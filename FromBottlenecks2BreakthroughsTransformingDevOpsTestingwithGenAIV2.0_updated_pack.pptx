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41" r:id="rId2"/>
  </p:sldMasterIdLst>
  <p:notesMasterIdLst>
    <p:notesMasterId r:id="rId14"/>
  </p:notesMasterIdLst>
  <p:sldIdLst>
    <p:sldId id="256" r:id="rId3"/>
    <p:sldId id="257" r:id="rId4"/>
    <p:sldId id="289" r:id="rId5"/>
    <p:sldId id="278" r:id="rId6"/>
    <p:sldId id="260" r:id="rId7"/>
    <p:sldId id="298" r:id="rId8"/>
    <p:sldId id="290" r:id="rId9"/>
    <p:sldId id="291" r:id="rId10"/>
    <p:sldId id="292" r:id="rId11"/>
    <p:sldId id="28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122"/>
    <a:srgbClr val="361F25"/>
    <a:srgbClr val="252A31"/>
    <a:srgbClr val="213232"/>
    <a:srgbClr val="263029"/>
    <a:srgbClr val="312E25"/>
    <a:srgbClr val="302631"/>
    <a:srgbClr val="355F6E"/>
    <a:srgbClr val="595B27"/>
    <a:srgbClr val="6222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8FEFB6-C351-9B99-0834-5CFBE081ED66}" v="4" dt="2025-11-21T15:22:26.043"/>
    <p1510:client id="{E195EF20-ECB9-4D92-BB06-B75C27C47C76}" v="4" dt="2025-11-22T12:21:34.406"/>
    <p1510:client id="{E1A9333D-76F0-113F-CF70-79BB3B9F9A8A}" v="4" dt="2025-11-21T13:04:21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anan, Ajithkumar (Cognizant)" userId="87b2941f-e353-4888-8c7d-05dda1a35a39" providerId="ADAL" clId="{62020964-9605-4A64-9B70-2658FBEFE48E}"/>
    <pc:docChg chg="addSld delSld modSld">
      <pc:chgData name="Lakshmanan, Ajithkumar (Cognizant)" userId="87b2941f-e353-4888-8c7d-05dda1a35a39" providerId="ADAL" clId="{62020964-9605-4A64-9B70-2658FBEFE48E}" dt="2025-11-22T12:22:33.663" v="54" actId="113"/>
      <pc:docMkLst>
        <pc:docMk/>
      </pc:docMkLst>
      <pc:sldChg chg="modSp add del mod">
        <pc:chgData name="Lakshmanan, Ajithkumar (Cognizant)" userId="87b2941f-e353-4888-8c7d-05dda1a35a39" providerId="ADAL" clId="{62020964-9605-4A64-9B70-2658FBEFE48E}" dt="2025-11-22T12:22:33.663" v="54" actId="113"/>
        <pc:sldMkLst>
          <pc:docMk/>
          <pc:sldMk cId="1160759004" sldId="298"/>
        </pc:sldMkLst>
        <pc:spChg chg="mod">
          <ac:chgData name="Lakshmanan, Ajithkumar (Cognizant)" userId="87b2941f-e353-4888-8c7d-05dda1a35a39" providerId="ADAL" clId="{62020964-9605-4A64-9B70-2658FBEFE48E}" dt="2025-11-22T12:22:33.663" v="54" actId="113"/>
          <ac:spMkLst>
            <pc:docMk/>
            <pc:sldMk cId="1160759004" sldId="298"/>
            <ac:spMk id="17" creationId="{F367A688-D35E-D87C-3A76-8D5FCB0DF8B7}"/>
          </ac:spMkLst>
        </pc:spChg>
        <pc:spChg chg="mod">
          <ac:chgData name="Lakshmanan, Ajithkumar (Cognizant)" userId="87b2941f-e353-4888-8c7d-05dda1a35a39" providerId="ADAL" clId="{62020964-9605-4A64-9B70-2658FBEFE48E}" dt="2025-11-22T12:20:01.558" v="29" actId="113"/>
          <ac:spMkLst>
            <pc:docMk/>
            <pc:sldMk cId="1160759004" sldId="298"/>
            <ac:spMk id="55" creationId="{E59976FF-5817-83D1-C143-577FFB03871C}"/>
          </ac:spMkLst>
        </pc:spChg>
        <pc:spChg chg="mod">
          <ac:chgData name="Lakshmanan, Ajithkumar (Cognizant)" userId="87b2941f-e353-4888-8c7d-05dda1a35a39" providerId="ADAL" clId="{62020964-9605-4A64-9B70-2658FBEFE48E}" dt="2025-11-22T12:20:19.443" v="33"/>
          <ac:spMkLst>
            <pc:docMk/>
            <pc:sldMk cId="1160759004" sldId="298"/>
            <ac:spMk id="61" creationId="{E74C25F4-E3B5-C465-5165-F5A7A47EDE45}"/>
          </ac:spMkLst>
        </pc:spChg>
        <pc:picChg chg="mod">
          <ac:chgData name="Lakshmanan, Ajithkumar (Cognizant)" userId="87b2941f-e353-4888-8c7d-05dda1a35a39" providerId="ADAL" clId="{62020964-9605-4A64-9B70-2658FBEFE48E}" dt="2025-11-22T12:21:34.406" v="38" actId="1076"/>
          <ac:picMkLst>
            <pc:docMk/>
            <pc:sldMk cId="1160759004" sldId="298"/>
            <ac:picMk id="1087" creationId="{52AFF639-4996-94F4-D41E-9D67B5EA09E5}"/>
          </ac:picMkLst>
        </pc:picChg>
        <pc:cxnChg chg="mod">
          <ac:chgData name="Lakshmanan, Ajithkumar (Cognizant)" userId="87b2941f-e353-4888-8c7d-05dda1a35a39" providerId="ADAL" clId="{62020964-9605-4A64-9B70-2658FBEFE48E}" dt="2025-11-22T12:18:57.585" v="21" actId="1076"/>
          <ac:cxnSpMkLst>
            <pc:docMk/>
            <pc:sldMk cId="1160759004" sldId="298"/>
            <ac:cxnSpMk id="51" creationId="{07EC23AC-0734-0E31-E1C2-5FEEA7FBF63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57AC0-3B45-42D8-86F0-B41AA420585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E8E2D-E79A-415A-A4F8-6080FC654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24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E8E2D-E79A-415A-A4F8-6080FC6541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53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E8E2D-E79A-415A-A4F8-6080FC6541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24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442A4-1688-E361-3E85-F74F76800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A20FA-6C60-A7A8-DF7D-58ACA7154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43DDD-CAEE-A66B-F76E-76DB8C422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1BE63-5FC2-B4C7-D664-80C2C80C8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E8E2D-E79A-415A-A4F8-6080FC6541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7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69BFF-CE72-BFD5-4B51-1A52D78C813E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13" name="Picture 12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36F513A5-E449-4A1A-F0A2-482B5E984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8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4A86E-B31F-B49E-442D-FBBB02284602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8" name="Picture 7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D8969EE7-FBF1-AE01-B71A-5B69932732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4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007EA-3AB4-ACD9-062C-E9BC5C7D9C5A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8" name="Picture 7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97D08238-E97E-0D05-D5AA-6ACDBF72C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8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67330-9D12-42FF-F0BE-B92E126E097B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9" name="Picture 8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11B0A10D-F469-22E6-FF0A-1423BEC2FB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3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0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5454ED-933D-C18F-2495-79795DF332DD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7" name="Picture 6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91A19705-8FE1-76FC-A815-A3F89394B8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8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6404F1-4D22-1C48-4D13-9B3DF8FC8241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6" name="Picture 5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50B79299-A976-31EE-6144-0860E47E4E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12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D2CB5-880F-1C41-F848-24681F8F280B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9" name="Picture 8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39669DF4-9983-93C0-F65F-991BB3A850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5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5A236-FC68-1F10-FAB7-DB4E9591DDAA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9" name="Picture 8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B330158C-7096-D641-196B-B36689B8D1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9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3FC36-9F90-1D2A-789E-470E4F2AA154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8" name="Picture 7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7E4F1BB9-FD2B-590F-5B16-7231E3475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3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C9670-DA70-79EF-5D17-70F549D7E2FC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12" name="Picture 11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FE61C9F6-1915-CEB3-5A4B-4111652BC6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0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933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1CE3A-C7C4-83C6-14E3-D040EABF3865}"/>
              </a:ext>
            </a:extLst>
          </p:cNvPr>
          <p:cNvSpPr txBox="1"/>
          <p:nvPr userDrawn="1"/>
        </p:nvSpPr>
        <p:spPr>
          <a:xfrm>
            <a:off x="188843" y="6182139"/>
            <a:ext cx="554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Global Testing Retreat #ATAGTR2025 </a:t>
            </a:r>
            <a:endParaRPr lang="en-IN" b="1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22,23 November and 14</a:t>
            </a:r>
            <a:r>
              <a:rPr lang="en-IN" b="1" baseline="30000">
                <a:solidFill>
                  <a:schemeClr val="tx1"/>
                </a:solidFill>
                <a:latin typeface="Trebuchet MS" panose="020B0603020202020204" pitchFamily="34" charset="0"/>
              </a:rPr>
              <a:t>th</a:t>
            </a:r>
            <a:r>
              <a:rPr lang="en-IN" b="1">
                <a:solidFill>
                  <a:schemeClr val="tx1"/>
                </a:solidFill>
                <a:latin typeface="Trebuchet MS" panose="020B0603020202020204" pitchFamily="34" charset="0"/>
              </a:rPr>
              <a:t> December 2025</a:t>
            </a:r>
            <a:endParaRPr lang="en-IN">
              <a:solidFill>
                <a:schemeClr val="tx1"/>
              </a:solidFill>
            </a:endParaRPr>
          </a:p>
        </p:txBody>
      </p:sp>
      <p:pic>
        <p:nvPicPr>
          <p:cNvPr id="8" name="Picture 7" descr="A colorful logo with a check mark in the center&#10;&#10;AI-generated content may be incorrect.">
            <a:extLst>
              <a:ext uri="{FF2B5EF4-FFF2-40B4-BE49-F238E27FC236}">
                <a16:creationId xmlns:a16="http://schemas.microsoft.com/office/drawing/2014/main" id="{C288D6D0-9215-E8CC-A479-644744EA45D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40" y="5890593"/>
            <a:ext cx="967407" cy="967407"/>
          </a:xfrm>
          <a:prstGeom prst="rect">
            <a:avLst/>
          </a:prstGeom>
        </p:spPr>
      </p:pic>
      <p:pic>
        <p:nvPicPr>
          <p:cNvPr id="12" name="Picture 11" descr="A close up of logos&#10;&#10;AI-generated content may be incorrect.">
            <a:extLst>
              <a:ext uri="{FF2B5EF4-FFF2-40B4-BE49-F238E27FC236}">
                <a16:creationId xmlns:a16="http://schemas.microsoft.com/office/drawing/2014/main" id="{8C64089A-9136-2B00-2FC4-F0D61B2145B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36" b="13737"/>
          <a:stretch>
            <a:fillRect/>
          </a:stretch>
        </p:blipFill>
        <p:spPr>
          <a:xfrm>
            <a:off x="10298433" y="135836"/>
            <a:ext cx="1694784" cy="995292"/>
          </a:xfrm>
          <a:prstGeom prst="rect">
            <a:avLst/>
          </a:prstGeom>
        </p:spPr>
      </p:pic>
      <p:pic>
        <p:nvPicPr>
          <p:cNvPr id="13" name="Picture 12" descr="A yellow stamp with black text&#10;&#10;AI-generated content may be incorrect.">
            <a:extLst>
              <a:ext uri="{FF2B5EF4-FFF2-40B4-BE49-F238E27FC236}">
                <a16:creationId xmlns:a16="http://schemas.microsoft.com/office/drawing/2014/main" id="{991EE66A-1673-2C64-B4D9-0550B0657F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522" y="5870714"/>
            <a:ext cx="967407" cy="9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010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29" r:id="rId5"/>
    <p:sldLayoutId id="2147483830" r:id="rId6"/>
    <p:sldLayoutId id="2147483835" r:id="rId7"/>
    <p:sldLayoutId id="2147483831" r:id="rId8"/>
    <p:sldLayoutId id="2147483832" r:id="rId9"/>
    <p:sldLayoutId id="2147483833" r:id="rId10"/>
    <p:sldLayoutId id="2147483834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>
              <a:solidFill>
                <a:srgbClr val="008C58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FF1A5-A306-8A52-C88A-8BEF71F01730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A50FD8E-19D7-5B2F-6254-FB0B4BCB9871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213115-9842-67D1-D9D6-633479CDE9CB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EE582F-C1D0-CB4C-7244-58A246DA1C6C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23839-F8D9-FC13-F695-5873F14BAF9B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7" name="Shape">
                <a:extLst>
                  <a:ext uri="{FF2B5EF4-FFF2-40B4-BE49-F238E27FC236}">
                    <a16:creationId xmlns:a16="http://schemas.microsoft.com/office/drawing/2014/main" id="{D2DFAADE-AEEE-67C4-E631-0A26CC2A0487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Shape">
                <a:extLst>
                  <a:ext uri="{FF2B5EF4-FFF2-40B4-BE49-F238E27FC236}">
                    <a16:creationId xmlns:a16="http://schemas.microsoft.com/office/drawing/2014/main" id="{285A82B9-C48D-490D-BB56-464D7C52CC8C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EFEE98D4-2422-A234-A864-14015CDCC59A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>
              <a:alpha val="19699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3EAC94-F2D6-7639-EC34-D395A05EE91D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9D0E6D66-0255-DBE1-A3E9-22CAE68EF038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F7DA369F-8273-A13B-7B94-B212C391EF3A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5795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jpeg"/><Relationship Id="rId21" Type="http://schemas.openxmlformats.org/officeDocument/2006/relationships/image" Target="../media/image28.jpe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jpeg"/><Relationship Id="rId24" Type="http://schemas.openxmlformats.org/officeDocument/2006/relationships/image" Target="../media/image31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10" Type="http://schemas.openxmlformats.org/officeDocument/2006/relationships/image" Target="../media/image17.png"/><Relationship Id="rId19" Type="http://schemas.openxmlformats.org/officeDocument/2006/relationships/image" Target="../media/image26.jpeg"/><Relationship Id="rId4" Type="http://schemas.openxmlformats.org/officeDocument/2006/relationships/image" Target="../media/image11.jpe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A6A0AE4-0D39-6F36-EFBB-F90C79505C2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284447" y="1671637"/>
            <a:ext cx="9708969" cy="16430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Bottlenecks to Breakthroughs:</a:t>
            </a:r>
            <a:r>
              <a:rPr lang="en-US" sz="400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400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Transforming DevOps Testing with GenAI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64EC775-3DEC-E77A-6542-D5A8500ED31F}"/>
              </a:ext>
            </a:extLst>
          </p:cNvPr>
          <p:cNvSpPr txBox="1">
            <a:spLocks/>
          </p:cNvSpPr>
          <p:nvPr/>
        </p:nvSpPr>
        <p:spPr>
          <a:xfrm>
            <a:off x="3701233" y="5339428"/>
            <a:ext cx="5149326" cy="5577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Vadivelu Balasundaram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A5C4B3-8FC8-1C9B-3E48-4C1014815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934" y="3479800"/>
            <a:ext cx="1841923" cy="1776984"/>
          </a:xfrm>
          <a:prstGeom prst="ellipse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A89CBC9-3813-B15B-3F8C-988026F58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559" y="3479800"/>
            <a:ext cx="1841923" cy="1776984"/>
          </a:xfrm>
          <a:prstGeom prst="ellipse">
            <a:avLst/>
          </a:prstGeom>
          <a:ln w="28575">
            <a:solidFill>
              <a:schemeClr val="accent2"/>
            </a:solidFill>
          </a:ln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7ABF59C1-DAA9-2835-9E06-5B4A5C79F64D}"/>
              </a:ext>
            </a:extLst>
          </p:cNvPr>
          <p:cNvSpPr txBox="1">
            <a:spLocks/>
          </p:cNvSpPr>
          <p:nvPr/>
        </p:nvSpPr>
        <p:spPr>
          <a:xfrm>
            <a:off x="7338832" y="5339428"/>
            <a:ext cx="5149326" cy="5021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Ajithkumar Lakshmanan</a:t>
            </a:r>
          </a:p>
        </p:txBody>
      </p:sp>
      <p:pic>
        <p:nvPicPr>
          <p:cNvPr id="4" name="Picture 3" descr="A close up of logos&#10;&#10;AI-generated content may be incorrect.">
            <a:extLst>
              <a:ext uri="{FF2B5EF4-FFF2-40B4-BE49-F238E27FC236}">
                <a16:creationId xmlns:a16="http://schemas.microsoft.com/office/drawing/2014/main" id="{6433F4E5-AB62-88BE-11AA-46EDD693B6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24" b="11111"/>
          <a:stretch>
            <a:fillRect/>
          </a:stretch>
        </p:blipFill>
        <p:spPr>
          <a:xfrm>
            <a:off x="7256" y="-1073"/>
            <a:ext cx="4528414" cy="268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5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0C2A-526E-130F-62A5-003340A75AD4}"/>
              </a:ext>
            </a:extLst>
          </p:cNvPr>
          <p:cNvSpPr txBox="1">
            <a:spLocks/>
          </p:cNvSpPr>
          <p:nvPr/>
        </p:nvSpPr>
        <p:spPr>
          <a:xfrm>
            <a:off x="3365500" y="1193799"/>
            <a:ext cx="6518480" cy="502920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Fira code" panose="020B0809050000020004" pitchFamily="49" charset="0"/>
              <a:buChar char="›"/>
            </a:pP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DevOps Pipeline Challenges</a:t>
            </a:r>
          </a:p>
          <a:p>
            <a:pPr algn="just">
              <a:lnSpc>
                <a:spcPct val="150000"/>
              </a:lnSpc>
              <a:buFont typeface="Fira code" panose="020B0809050000020004" pitchFamily="49" charset="0"/>
              <a:buChar char="›"/>
            </a:pP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Traditional Pipelines Struggle</a:t>
            </a:r>
          </a:p>
          <a:p>
            <a:pPr algn="just">
              <a:lnSpc>
                <a:spcPct val="150000"/>
              </a:lnSpc>
              <a:buFont typeface="Fira code" panose="020B0809050000020004" pitchFamily="49" charset="0"/>
              <a:buChar char="›"/>
            </a:pP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GenAI Enhances the DevOps Pipeline</a:t>
            </a:r>
          </a:p>
          <a:p>
            <a:pPr algn="just">
              <a:lnSpc>
                <a:spcPct val="150000"/>
              </a:lnSpc>
              <a:buFont typeface="Fira code" panose="020B0809050000020004" pitchFamily="49" charset="0"/>
              <a:buChar char="›"/>
            </a:pP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GenAI solution Architecture</a:t>
            </a:r>
          </a:p>
          <a:p>
            <a:pPr algn="just">
              <a:lnSpc>
                <a:spcPct val="150000"/>
              </a:lnSpc>
              <a:buFont typeface="Fira code" panose="020B0809050000020004" pitchFamily="49" charset="0"/>
              <a:buChar char="›"/>
            </a:pP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GenAI Across Each Pipeline Stage</a:t>
            </a:r>
          </a:p>
          <a:p>
            <a:pPr algn="just">
              <a:lnSpc>
                <a:spcPct val="150000"/>
              </a:lnSpc>
              <a:buFont typeface="Fira code" panose="020B0809050000020004" pitchFamily="49" charset="0"/>
              <a:buChar char="›"/>
            </a:pP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 &amp; Key Takeaways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A1E0B9B7-3C2C-D90B-4548-1736CB57FBA2}"/>
              </a:ext>
            </a:extLst>
          </p:cNvPr>
          <p:cNvSpPr txBox="1"/>
          <p:nvPr/>
        </p:nvSpPr>
        <p:spPr>
          <a:xfrm>
            <a:off x="546100" y="635000"/>
            <a:ext cx="4762500" cy="1267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60"/>
              </a:lnSpc>
              <a:spcBef>
                <a:spcPct val="0"/>
              </a:spcBef>
            </a:pPr>
            <a:r>
              <a:rPr lang="en-US" sz="7328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ira Code"/>
              </a:rPr>
              <a:t>{agenda</a:t>
            </a:r>
            <a:r>
              <a:rPr lang="en-US" sz="7328" u="none" strike="noStrike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ira Cod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266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D67D-A20B-2E3E-8A8F-019FEE9A8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566B47-1A74-CB39-F1E7-AD763414BD4B}"/>
              </a:ext>
            </a:extLst>
          </p:cNvPr>
          <p:cNvSpPr txBox="1">
            <a:spLocks/>
          </p:cNvSpPr>
          <p:nvPr/>
        </p:nvSpPr>
        <p:spPr>
          <a:xfrm>
            <a:off x="435117" y="-141653"/>
            <a:ext cx="8805157" cy="9102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cap="al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DevOps Pipeline Challenges</a:t>
            </a:r>
            <a:endParaRPr lang="en-IN" sz="3000" cap="al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B9850BF-103D-EBB1-D355-1011EABAC983}"/>
              </a:ext>
            </a:extLst>
          </p:cNvPr>
          <p:cNvSpPr>
            <a:spLocks/>
          </p:cNvSpPr>
          <p:nvPr/>
        </p:nvSpPr>
        <p:spPr bwMode="auto">
          <a:xfrm>
            <a:off x="4363969" y="1113344"/>
            <a:ext cx="1399285" cy="1445395"/>
          </a:xfrm>
          <a:custGeom>
            <a:avLst/>
            <a:gdLst>
              <a:gd name="connsiteX0" fmla="*/ 352057 w 1399285"/>
              <a:gd name="connsiteY0" fmla="*/ 0 h 1445395"/>
              <a:gd name="connsiteX1" fmla="*/ 1399285 w 1399285"/>
              <a:gd name="connsiteY1" fmla="*/ 665078 h 1445395"/>
              <a:gd name="connsiteX2" fmla="*/ 568964 w 1399285"/>
              <a:gd name="connsiteY2" fmla="*/ 1445395 h 1445395"/>
              <a:gd name="connsiteX3" fmla="*/ 551548 w 1399285"/>
              <a:gd name="connsiteY3" fmla="*/ 1426233 h 1445395"/>
              <a:gd name="connsiteX4" fmla="*/ 96554 w 1399285"/>
              <a:gd name="connsiteY4" fmla="*/ 1119467 h 1445395"/>
              <a:gd name="connsiteX5" fmla="*/ 0 w 1399285"/>
              <a:gd name="connsiteY5" fmla="*/ 1084128 h 144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9285" h="1445395">
                <a:moveTo>
                  <a:pt x="352057" y="0"/>
                </a:moveTo>
                <a:cubicBezTo>
                  <a:pt x="751527" y="129776"/>
                  <a:pt x="1111773" y="358647"/>
                  <a:pt x="1399285" y="665078"/>
                </a:cubicBezTo>
                <a:lnTo>
                  <a:pt x="568964" y="1445395"/>
                </a:lnTo>
                <a:lnTo>
                  <a:pt x="551548" y="1426233"/>
                </a:lnTo>
                <a:cubicBezTo>
                  <a:pt x="422030" y="1296715"/>
                  <a:pt x="267807" y="1191901"/>
                  <a:pt x="96554" y="1119467"/>
                </a:cubicBezTo>
                <a:lnTo>
                  <a:pt x="0" y="1084128"/>
                </a:lnTo>
                <a:close/>
              </a:path>
            </a:pathLst>
          </a:custGeom>
          <a:solidFill>
            <a:srgbClr val="F15F47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33A89D2-B136-0764-462D-6712E07C311D}"/>
              </a:ext>
            </a:extLst>
          </p:cNvPr>
          <p:cNvSpPr>
            <a:spLocks/>
          </p:cNvSpPr>
          <p:nvPr/>
        </p:nvSpPr>
        <p:spPr bwMode="auto">
          <a:xfrm>
            <a:off x="4957733" y="1805495"/>
            <a:ext cx="1429408" cy="1371009"/>
          </a:xfrm>
          <a:custGeom>
            <a:avLst/>
            <a:gdLst>
              <a:gd name="connsiteX0" fmla="*/ 831355 w 1429408"/>
              <a:gd name="connsiteY0" fmla="*/ 0 h 1371009"/>
              <a:gd name="connsiteX1" fmla="*/ 1429408 w 1429408"/>
              <a:gd name="connsiteY1" fmla="*/ 1087727 h 1371009"/>
              <a:gd name="connsiteX2" fmla="*/ 325648 w 1429408"/>
              <a:gd name="connsiteY2" fmla="*/ 1371009 h 1371009"/>
              <a:gd name="connsiteX3" fmla="*/ 312683 w 1429408"/>
              <a:gd name="connsiteY3" fmla="*/ 1320589 h 1371009"/>
              <a:gd name="connsiteX4" fmla="*/ 50170 w 1429408"/>
              <a:gd name="connsiteY4" fmla="*/ 835733 h 1371009"/>
              <a:gd name="connsiteX5" fmla="*/ 0 w 1429408"/>
              <a:gd name="connsiteY5" fmla="*/ 780533 h 137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9408" h="1371009">
                <a:moveTo>
                  <a:pt x="831355" y="0"/>
                </a:moveTo>
                <a:cubicBezTo>
                  <a:pt x="1119137" y="306423"/>
                  <a:pt x="1324968" y="680687"/>
                  <a:pt x="1429408" y="1087727"/>
                </a:cubicBezTo>
                <a:lnTo>
                  <a:pt x="325648" y="1371009"/>
                </a:lnTo>
                <a:lnTo>
                  <a:pt x="312683" y="1320589"/>
                </a:lnTo>
                <a:cubicBezTo>
                  <a:pt x="256919" y="1141301"/>
                  <a:pt x="166856" y="977124"/>
                  <a:pt x="50170" y="835733"/>
                </a:cubicBezTo>
                <a:lnTo>
                  <a:pt x="0" y="780533"/>
                </a:lnTo>
                <a:close/>
              </a:path>
            </a:pathLst>
          </a:custGeom>
          <a:solidFill>
            <a:srgbClr val="FBA91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1C362EA-6875-DB1F-6A2A-D2611398AB5D}"/>
              </a:ext>
            </a:extLst>
          </p:cNvPr>
          <p:cNvSpPr>
            <a:spLocks/>
          </p:cNvSpPr>
          <p:nvPr/>
        </p:nvSpPr>
        <p:spPr bwMode="auto">
          <a:xfrm>
            <a:off x="5292688" y="2929444"/>
            <a:ext cx="1182649" cy="1239838"/>
          </a:xfrm>
          <a:custGeom>
            <a:avLst/>
            <a:gdLst>
              <a:gd name="connsiteX0" fmla="*/ 1104337 w 1182649"/>
              <a:gd name="connsiteY0" fmla="*/ 0 h 1239838"/>
              <a:gd name="connsiteX1" fmla="*/ 1104337 w 1182649"/>
              <a:gd name="connsiteY1" fmla="*/ 1239838 h 1239838"/>
              <a:gd name="connsiteX2" fmla="*/ 1149 w 1182649"/>
              <a:gd name="connsiteY2" fmla="*/ 956877 h 1239838"/>
              <a:gd name="connsiteX3" fmla="*/ 13001 w 1182649"/>
              <a:gd name="connsiteY3" fmla="*/ 910781 h 1239838"/>
              <a:gd name="connsiteX4" fmla="*/ 42082 w 1182649"/>
              <a:gd name="connsiteY4" fmla="*/ 622300 h 1239838"/>
              <a:gd name="connsiteX5" fmla="*/ 13001 w 1182649"/>
              <a:gd name="connsiteY5" fmla="*/ 333819 h 1239838"/>
              <a:gd name="connsiteX6" fmla="*/ 0 w 1182649"/>
              <a:gd name="connsiteY6" fmla="*/ 283256 h 123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2649" h="1239838">
                <a:moveTo>
                  <a:pt x="1104337" y="0"/>
                </a:moveTo>
                <a:cubicBezTo>
                  <a:pt x="1208753" y="406554"/>
                  <a:pt x="1208753" y="833284"/>
                  <a:pt x="1104337" y="1239838"/>
                </a:cubicBezTo>
                <a:lnTo>
                  <a:pt x="1149" y="956877"/>
                </a:lnTo>
                <a:lnTo>
                  <a:pt x="13001" y="910781"/>
                </a:lnTo>
                <a:cubicBezTo>
                  <a:pt x="32069" y="817599"/>
                  <a:pt x="42082" y="721119"/>
                  <a:pt x="42082" y="622300"/>
                </a:cubicBezTo>
                <a:cubicBezTo>
                  <a:pt x="42082" y="523481"/>
                  <a:pt x="32069" y="427001"/>
                  <a:pt x="13001" y="333819"/>
                </a:cubicBezTo>
                <a:lnTo>
                  <a:pt x="0" y="283256"/>
                </a:lnTo>
                <a:close/>
              </a:path>
            </a:pathLst>
          </a:custGeom>
          <a:solidFill>
            <a:srgbClr val="FEDA2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18B0B93-CEA6-71FB-BE56-E7A027FD2580}"/>
              </a:ext>
            </a:extLst>
          </p:cNvPr>
          <p:cNvSpPr>
            <a:spLocks/>
          </p:cNvSpPr>
          <p:nvPr/>
        </p:nvSpPr>
        <p:spPr bwMode="auto">
          <a:xfrm>
            <a:off x="4959963" y="3922520"/>
            <a:ext cx="1427178" cy="1370712"/>
          </a:xfrm>
          <a:custGeom>
            <a:avLst/>
            <a:gdLst>
              <a:gd name="connsiteX0" fmla="*/ 324566 w 1427178"/>
              <a:gd name="connsiteY0" fmla="*/ 0 h 1370712"/>
              <a:gd name="connsiteX1" fmla="*/ 1427178 w 1427178"/>
              <a:gd name="connsiteY1" fmla="*/ 283288 h 1370712"/>
              <a:gd name="connsiteX2" fmla="*/ 829125 w 1427178"/>
              <a:gd name="connsiteY2" fmla="*/ 1370712 h 1370712"/>
              <a:gd name="connsiteX3" fmla="*/ 0 w 1427178"/>
              <a:gd name="connsiteY3" fmla="*/ 592489 h 1370712"/>
              <a:gd name="connsiteX4" fmla="*/ 47940 w 1427178"/>
              <a:gd name="connsiteY4" fmla="*/ 539741 h 1370712"/>
              <a:gd name="connsiteX5" fmla="*/ 310453 w 1427178"/>
              <a:gd name="connsiteY5" fmla="*/ 54885 h 137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7178" h="1370712">
                <a:moveTo>
                  <a:pt x="324566" y="0"/>
                </a:moveTo>
                <a:lnTo>
                  <a:pt x="1427178" y="283288"/>
                </a:lnTo>
                <a:cubicBezTo>
                  <a:pt x="1322738" y="690215"/>
                  <a:pt x="1116907" y="1064374"/>
                  <a:pt x="829125" y="1370712"/>
                </a:cubicBezTo>
                <a:lnTo>
                  <a:pt x="0" y="592489"/>
                </a:lnTo>
                <a:lnTo>
                  <a:pt x="47940" y="539741"/>
                </a:lnTo>
                <a:cubicBezTo>
                  <a:pt x="164626" y="398350"/>
                  <a:pt x="254689" y="234173"/>
                  <a:pt x="310453" y="54885"/>
                </a:cubicBezTo>
                <a:close/>
              </a:path>
            </a:pathLst>
          </a:custGeom>
          <a:solidFill>
            <a:srgbClr val="6EA56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DF911B7-62C0-FA1C-79BD-8022CD92DC59}"/>
              </a:ext>
            </a:extLst>
          </p:cNvPr>
          <p:cNvSpPr>
            <a:spLocks/>
          </p:cNvSpPr>
          <p:nvPr/>
        </p:nvSpPr>
        <p:spPr bwMode="auto">
          <a:xfrm>
            <a:off x="4365351" y="4542181"/>
            <a:ext cx="1397903" cy="1443201"/>
          </a:xfrm>
          <a:custGeom>
            <a:avLst/>
            <a:gdLst>
              <a:gd name="connsiteX0" fmla="*/ 569916 w 1397903"/>
              <a:gd name="connsiteY0" fmla="*/ 0 h 1443201"/>
              <a:gd name="connsiteX1" fmla="*/ 1397903 w 1397903"/>
              <a:gd name="connsiteY1" fmla="*/ 778123 h 1443201"/>
              <a:gd name="connsiteX2" fmla="*/ 350675 w 1397903"/>
              <a:gd name="connsiteY2" fmla="*/ 1443201 h 1443201"/>
              <a:gd name="connsiteX3" fmla="*/ 0 w 1397903"/>
              <a:gd name="connsiteY3" fmla="*/ 363330 h 1443201"/>
              <a:gd name="connsiteX4" fmla="*/ 95172 w 1397903"/>
              <a:gd name="connsiteY4" fmla="*/ 328496 h 1443201"/>
              <a:gd name="connsiteX5" fmla="*/ 550166 w 1397903"/>
              <a:gd name="connsiteY5" fmla="*/ 21731 h 144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903" h="1443201">
                <a:moveTo>
                  <a:pt x="569916" y="0"/>
                </a:moveTo>
                <a:lnTo>
                  <a:pt x="1397903" y="778123"/>
                </a:lnTo>
                <a:cubicBezTo>
                  <a:pt x="1110391" y="1084555"/>
                  <a:pt x="750145" y="1313425"/>
                  <a:pt x="350675" y="1443201"/>
                </a:cubicBezTo>
                <a:lnTo>
                  <a:pt x="0" y="363330"/>
                </a:lnTo>
                <a:lnTo>
                  <a:pt x="95172" y="328496"/>
                </a:lnTo>
                <a:cubicBezTo>
                  <a:pt x="266425" y="256062"/>
                  <a:pt x="420648" y="151249"/>
                  <a:pt x="550166" y="21731"/>
                </a:cubicBezTo>
                <a:close/>
              </a:path>
            </a:pathLst>
          </a:custGeom>
          <a:solidFill>
            <a:srgbClr val="3AC6E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4EFEC44-A0F9-233A-3D73-AC9412DE6175}"/>
              </a:ext>
            </a:extLst>
          </p:cNvPr>
          <p:cNvGrpSpPr/>
          <p:nvPr/>
        </p:nvGrpSpPr>
        <p:grpSpPr>
          <a:xfrm>
            <a:off x="6869062" y="2907097"/>
            <a:ext cx="3429323" cy="953912"/>
            <a:chOff x="8839980" y="1264194"/>
            <a:chExt cx="3071008" cy="97481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527941A-C74A-D184-3D50-FFE6C5F611A4}"/>
                </a:ext>
              </a:extLst>
            </p:cNvPr>
            <p:cNvSpPr txBox="1"/>
            <p:nvPr/>
          </p:nvSpPr>
          <p:spPr>
            <a:xfrm>
              <a:off x="8839980" y="126419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>
                  <a:solidFill>
                    <a:srgbClr val="FEDA2F"/>
                  </a:solidFill>
                  <a:latin typeface="Calibri" panose="020F0502020204030204"/>
                </a:rPr>
                <a:t>Poor Test Optimization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F1CE2A-212B-418D-AFDD-D8B2162CD239}"/>
                </a:ext>
              </a:extLst>
            </p:cNvPr>
            <p:cNvSpPr txBox="1"/>
            <p:nvPr/>
          </p:nvSpPr>
          <p:spPr>
            <a:xfrm>
              <a:off x="8984908" y="1704325"/>
              <a:ext cx="2926080" cy="53468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Test execution is not optimized effectively.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8E21085-1AD4-673C-A22F-BE8183F6E609}"/>
              </a:ext>
            </a:extLst>
          </p:cNvPr>
          <p:cNvGrpSpPr/>
          <p:nvPr/>
        </p:nvGrpSpPr>
        <p:grpSpPr>
          <a:xfrm>
            <a:off x="6974936" y="3634592"/>
            <a:ext cx="3389404" cy="1167209"/>
            <a:chOff x="8836921" y="886734"/>
            <a:chExt cx="3035262" cy="149493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579DA8E-1FF9-82D0-9802-A3AE2E3EEEB8}"/>
                </a:ext>
              </a:extLst>
            </p:cNvPr>
            <p:cNvSpPr txBox="1"/>
            <p:nvPr/>
          </p:nvSpPr>
          <p:spPr>
            <a:xfrm>
              <a:off x="8836921" y="886734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>
                  <a:solidFill>
                    <a:srgbClr val="6EA56C"/>
                  </a:solidFill>
                  <a:latin typeface="Calibri" panose="020F0502020204030204"/>
                </a:rPr>
                <a:t>High Manual Debugging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B95064-6439-60F1-731C-5919DB1025F4}"/>
                </a:ext>
              </a:extLst>
            </p:cNvPr>
            <p:cNvSpPr txBox="1"/>
            <p:nvPr/>
          </p:nvSpPr>
          <p:spPr>
            <a:xfrm>
              <a:off x="8946103" y="1711538"/>
              <a:ext cx="2926080" cy="67012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Significant manual debugging and firefighting efforts are required. 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D66D38F-9C70-FDA8-2280-7F59E343AC29}"/>
              </a:ext>
            </a:extLst>
          </p:cNvPr>
          <p:cNvGrpSpPr/>
          <p:nvPr/>
        </p:nvGrpSpPr>
        <p:grpSpPr>
          <a:xfrm>
            <a:off x="6868007" y="4977055"/>
            <a:ext cx="3071619" cy="980680"/>
            <a:chOff x="9103139" y="1257957"/>
            <a:chExt cx="3148180" cy="98068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4AA625C-8B1D-0C8D-D71D-B0B6C7970BC5}"/>
                </a:ext>
              </a:extLst>
            </p:cNvPr>
            <p:cNvSpPr txBox="1"/>
            <p:nvPr/>
          </p:nvSpPr>
          <p:spPr>
            <a:xfrm>
              <a:off x="9103139" y="1257957"/>
              <a:ext cx="2504931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>
                  <a:solidFill>
                    <a:srgbClr val="3AC6E1"/>
                  </a:solidFill>
                  <a:latin typeface="Calibri" panose="020F0502020204030204"/>
                </a:rPr>
                <a:t>Limited Insights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E3A254-4FEE-F495-7FBB-CA2A80B56134}"/>
                </a:ext>
              </a:extLst>
            </p:cNvPr>
            <p:cNvSpPr txBox="1"/>
            <p:nvPr/>
          </p:nvSpPr>
          <p:spPr>
            <a:xfrm>
              <a:off x="9325239" y="1715417"/>
              <a:ext cx="2926080" cy="52322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Predictive insights are limited or unavailable. 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136C583-833C-5A08-2381-7D5C7F673DBE}"/>
              </a:ext>
            </a:extLst>
          </p:cNvPr>
          <p:cNvGrpSpPr/>
          <p:nvPr/>
        </p:nvGrpSpPr>
        <p:grpSpPr>
          <a:xfrm>
            <a:off x="475034" y="2542891"/>
            <a:ext cx="2926080" cy="2213483"/>
            <a:chOff x="8921977" y="2577912"/>
            <a:chExt cx="2926080" cy="221348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11F4C98-D747-7F8C-87BC-92B03C22DE0A}"/>
                </a:ext>
              </a:extLst>
            </p:cNvPr>
            <p:cNvSpPr txBox="1"/>
            <p:nvPr/>
          </p:nvSpPr>
          <p:spPr>
            <a:xfrm>
              <a:off x="8921977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rgbClr val="FFFFFF"/>
                  </a:solidFill>
                  <a:latin typeface="Calibri" panose="020F0502020204030204"/>
                </a:rPr>
                <a:t>Challenges in      Devops Pipelines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4AF8623-6D90-F5C3-95F8-459D0D1E8366}"/>
                </a:ext>
              </a:extLst>
            </p:cNvPr>
            <p:cNvSpPr txBox="1"/>
            <p:nvPr/>
          </p:nvSpPr>
          <p:spPr>
            <a:xfrm>
              <a:off x="8921977" y="3406400"/>
              <a:ext cx="2926080" cy="138499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Today’s DevOps pipelines are responsible for managing complex build, test, and deployment activities.</a:t>
              </a:r>
            </a:p>
            <a:p>
              <a:r>
                <a:rPr lang="en-US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While they enable faster delivery, many still rely on traditional methods and fragmented tools to operate.</a:t>
              </a:r>
            </a:p>
          </p:txBody>
        </p:sp>
      </p:grpSp>
      <p:pic>
        <p:nvPicPr>
          <p:cNvPr id="55" name="Graphic 54" descr="Network with solid fill">
            <a:extLst>
              <a:ext uri="{FF2B5EF4-FFF2-40B4-BE49-F238E27FC236}">
                <a16:creationId xmlns:a16="http://schemas.microsoft.com/office/drawing/2014/main" id="{C48726E9-288A-8285-AC73-1026D7A8F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783701" y="3100100"/>
            <a:ext cx="914400" cy="914400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24348874-8188-908E-7802-41212FECFD2F}"/>
              </a:ext>
            </a:extLst>
          </p:cNvPr>
          <p:cNvGrpSpPr/>
          <p:nvPr/>
        </p:nvGrpSpPr>
        <p:grpSpPr>
          <a:xfrm>
            <a:off x="7008967" y="997809"/>
            <a:ext cx="3225856" cy="955631"/>
            <a:chOff x="9003556" y="1180808"/>
            <a:chExt cx="2956229" cy="115030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7A83DCB-1E74-7C56-34D9-143632A83B72}"/>
                </a:ext>
              </a:extLst>
            </p:cNvPr>
            <p:cNvSpPr txBox="1"/>
            <p:nvPr/>
          </p:nvSpPr>
          <p:spPr>
            <a:xfrm>
              <a:off x="9003556" y="1180808"/>
              <a:ext cx="2744343" cy="555713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>
                  <a:solidFill>
                    <a:srgbClr val="F15F47"/>
                  </a:solidFill>
                  <a:latin typeface="Calibri" panose="020F0502020204030204"/>
                </a:rPr>
                <a:t>Unstable Environments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CE32CE4-34D5-0D40-C178-A3C5852560F0}"/>
                </a:ext>
              </a:extLst>
            </p:cNvPr>
            <p:cNvSpPr txBox="1"/>
            <p:nvPr/>
          </p:nvSpPr>
          <p:spPr>
            <a:xfrm>
              <a:off x="9033705" y="1701308"/>
              <a:ext cx="2926080" cy="629808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Build and test environments are prone to instability. 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288A6A5-BAAC-F56D-F229-3EA5618FD9AD}"/>
              </a:ext>
            </a:extLst>
          </p:cNvPr>
          <p:cNvGrpSpPr/>
          <p:nvPr/>
        </p:nvGrpSpPr>
        <p:grpSpPr>
          <a:xfrm>
            <a:off x="6961128" y="1935903"/>
            <a:ext cx="3026336" cy="983259"/>
            <a:chOff x="8921977" y="1242150"/>
            <a:chExt cx="3026336" cy="98325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506F99D-03AE-E029-F244-D4320AF3D317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>
                  <a:solidFill>
                    <a:srgbClr val="FBA91E"/>
                  </a:solidFill>
                  <a:latin typeface="Calibri" panose="020F0502020204030204"/>
                </a:rPr>
                <a:t>Long Feedback Loops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34992F-06F5-BF09-40FE-5BFC03221B6C}"/>
                </a:ext>
              </a:extLst>
            </p:cNvPr>
            <p:cNvSpPr txBox="1"/>
            <p:nvPr/>
          </p:nvSpPr>
          <p:spPr>
            <a:xfrm>
              <a:off x="9022233" y="1702189"/>
              <a:ext cx="2926080" cy="52322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CI/CD feedback loops are excessively long. </a:t>
              </a:r>
            </a:p>
          </p:txBody>
        </p:sp>
      </p:grp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1AE062B-2FD3-C3F5-DB55-F699A1CF6F6C}"/>
              </a:ext>
            </a:extLst>
          </p:cNvPr>
          <p:cNvSpPr>
            <a:spLocks/>
          </p:cNvSpPr>
          <p:nvPr/>
        </p:nvSpPr>
        <p:spPr bwMode="auto">
          <a:xfrm>
            <a:off x="4363969" y="2036989"/>
            <a:ext cx="701196" cy="521750"/>
          </a:xfrm>
          <a:custGeom>
            <a:avLst/>
            <a:gdLst>
              <a:gd name="connsiteX0" fmla="*/ 52115 w 701196"/>
              <a:gd name="connsiteY0" fmla="*/ 0 h 521750"/>
              <a:gd name="connsiteX1" fmla="*/ 189129 w 701196"/>
              <a:gd name="connsiteY1" fmla="*/ 50147 h 521750"/>
              <a:gd name="connsiteX2" fmla="*/ 696294 w 701196"/>
              <a:gd name="connsiteY2" fmla="*/ 392087 h 521750"/>
              <a:gd name="connsiteX3" fmla="*/ 701196 w 701196"/>
              <a:gd name="connsiteY3" fmla="*/ 397481 h 521750"/>
              <a:gd name="connsiteX4" fmla="*/ 568964 w 701196"/>
              <a:gd name="connsiteY4" fmla="*/ 521750 h 521750"/>
              <a:gd name="connsiteX5" fmla="*/ 551548 w 701196"/>
              <a:gd name="connsiteY5" fmla="*/ 502588 h 521750"/>
              <a:gd name="connsiteX6" fmla="*/ 96554 w 701196"/>
              <a:gd name="connsiteY6" fmla="*/ 195822 h 521750"/>
              <a:gd name="connsiteX7" fmla="*/ 0 w 701196"/>
              <a:gd name="connsiteY7" fmla="*/ 160483 h 52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196" h="521750">
                <a:moveTo>
                  <a:pt x="52115" y="0"/>
                </a:moveTo>
                <a:lnTo>
                  <a:pt x="189129" y="50147"/>
                </a:lnTo>
                <a:cubicBezTo>
                  <a:pt x="380018" y="130887"/>
                  <a:pt x="551925" y="247718"/>
                  <a:pt x="696294" y="392087"/>
                </a:cubicBezTo>
                <a:lnTo>
                  <a:pt x="701196" y="397481"/>
                </a:lnTo>
                <a:lnTo>
                  <a:pt x="568964" y="521750"/>
                </a:lnTo>
                <a:lnTo>
                  <a:pt x="551548" y="502588"/>
                </a:lnTo>
                <a:cubicBezTo>
                  <a:pt x="422030" y="373070"/>
                  <a:pt x="267807" y="268256"/>
                  <a:pt x="96554" y="195822"/>
                </a:cubicBezTo>
                <a:lnTo>
                  <a:pt x="0" y="160483"/>
                </a:lnTo>
                <a:close/>
              </a:path>
            </a:pathLst>
          </a:custGeom>
          <a:solidFill>
            <a:srgbClr val="000000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A3C0F8-7065-5438-A535-E1B38088A6C2}"/>
              </a:ext>
            </a:extLst>
          </p:cNvPr>
          <p:cNvSpPr>
            <a:spLocks/>
          </p:cNvSpPr>
          <p:nvPr/>
        </p:nvSpPr>
        <p:spPr bwMode="auto">
          <a:xfrm>
            <a:off x="4957733" y="2461823"/>
            <a:ext cx="510040" cy="714681"/>
          </a:xfrm>
          <a:custGeom>
            <a:avLst/>
            <a:gdLst>
              <a:gd name="connsiteX0" fmla="*/ 132292 w 510040"/>
              <a:gd name="connsiteY0" fmla="*/ 0 h 714681"/>
              <a:gd name="connsiteX1" fmla="*/ 205509 w 510040"/>
              <a:gd name="connsiteY1" fmla="*/ 80559 h 714681"/>
              <a:gd name="connsiteX2" fmla="*/ 498122 w 510040"/>
              <a:gd name="connsiteY2" fmla="*/ 621009 h 714681"/>
              <a:gd name="connsiteX3" fmla="*/ 510040 w 510040"/>
              <a:gd name="connsiteY3" fmla="*/ 667357 h 714681"/>
              <a:gd name="connsiteX4" fmla="*/ 325648 w 510040"/>
              <a:gd name="connsiteY4" fmla="*/ 714681 h 714681"/>
              <a:gd name="connsiteX5" fmla="*/ 312683 w 510040"/>
              <a:gd name="connsiteY5" fmla="*/ 664261 h 714681"/>
              <a:gd name="connsiteX6" fmla="*/ 50170 w 510040"/>
              <a:gd name="connsiteY6" fmla="*/ 179405 h 714681"/>
              <a:gd name="connsiteX7" fmla="*/ 0 w 510040"/>
              <a:gd name="connsiteY7" fmla="*/ 124205 h 71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0040" h="714681">
                <a:moveTo>
                  <a:pt x="132292" y="0"/>
                </a:moveTo>
                <a:lnTo>
                  <a:pt x="205509" y="80559"/>
                </a:lnTo>
                <a:cubicBezTo>
                  <a:pt x="335575" y="238162"/>
                  <a:pt x="435964" y="421164"/>
                  <a:pt x="498122" y="621009"/>
                </a:cubicBezTo>
                <a:lnTo>
                  <a:pt x="510040" y="667357"/>
                </a:lnTo>
                <a:lnTo>
                  <a:pt x="325648" y="714681"/>
                </a:lnTo>
                <a:lnTo>
                  <a:pt x="312683" y="664261"/>
                </a:lnTo>
                <a:cubicBezTo>
                  <a:pt x="256919" y="484973"/>
                  <a:pt x="166856" y="320796"/>
                  <a:pt x="50170" y="179405"/>
                </a:cubicBezTo>
                <a:lnTo>
                  <a:pt x="0" y="124205"/>
                </a:lnTo>
                <a:close/>
              </a:path>
            </a:pathLst>
          </a:custGeom>
          <a:solidFill>
            <a:srgbClr val="000000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814DAF9D-EF50-9A04-B5A2-E5FF9CE50314}"/>
              </a:ext>
            </a:extLst>
          </p:cNvPr>
          <p:cNvSpPr>
            <a:spLocks/>
          </p:cNvSpPr>
          <p:nvPr/>
        </p:nvSpPr>
        <p:spPr bwMode="auto">
          <a:xfrm>
            <a:off x="5292688" y="3165404"/>
            <a:ext cx="234900" cy="768903"/>
          </a:xfrm>
          <a:custGeom>
            <a:avLst/>
            <a:gdLst>
              <a:gd name="connsiteX0" fmla="*/ 184399 w 234900"/>
              <a:gd name="connsiteY0" fmla="*/ 0 h 768903"/>
              <a:gd name="connsiteX1" fmla="*/ 202484 w 234900"/>
              <a:gd name="connsiteY1" fmla="*/ 70338 h 768903"/>
              <a:gd name="connsiteX2" fmla="*/ 234900 w 234900"/>
              <a:gd name="connsiteY2" fmla="*/ 391897 h 768903"/>
              <a:gd name="connsiteX3" fmla="*/ 202484 w 234900"/>
              <a:gd name="connsiteY3" fmla="*/ 713456 h 768903"/>
              <a:gd name="connsiteX4" fmla="*/ 188228 w 234900"/>
              <a:gd name="connsiteY4" fmla="*/ 768903 h 768903"/>
              <a:gd name="connsiteX5" fmla="*/ 1149 w 234900"/>
              <a:gd name="connsiteY5" fmla="*/ 720918 h 768903"/>
              <a:gd name="connsiteX6" fmla="*/ 13001 w 234900"/>
              <a:gd name="connsiteY6" fmla="*/ 674822 h 768903"/>
              <a:gd name="connsiteX7" fmla="*/ 42082 w 234900"/>
              <a:gd name="connsiteY7" fmla="*/ 386341 h 768903"/>
              <a:gd name="connsiteX8" fmla="*/ 13001 w 234900"/>
              <a:gd name="connsiteY8" fmla="*/ 97860 h 768903"/>
              <a:gd name="connsiteX9" fmla="*/ 0 w 234900"/>
              <a:gd name="connsiteY9" fmla="*/ 47297 h 768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4900" h="768903">
                <a:moveTo>
                  <a:pt x="184399" y="0"/>
                </a:moveTo>
                <a:lnTo>
                  <a:pt x="202484" y="70338"/>
                </a:lnTo>
                <a:cubicBezTo>
                  <a:pt x="223738" y="174205"/>
                  <a:pt x="234900" y="281747"/>
                  <a:pt x="234900" y="391897"/>
                </a:cubicBezTo>
                <a:cubicBezTo>
                  <a:pt x="234900" y="502047"/>
                  <a:pt x="223738" y="609590"/>
                  <a:pt x="202484" y="713456"/>
                </a:cubicBezTo>
                <a:lnTo>
                  <a:pt x="188228" y="768903"/>
                </a:lnTo>
                <a:lnTo>
                  <a:pt x="1149" y="720918"/>
                </a:lnTo>
                <a:lnTo>
                  <a:pt x="13001" y="674822"/>
                </a:lnTo>
                <a:cubicBezTo>
                  <a:pt x="32069" y="581640"/>
                  <a:pt x="42082" y="485160"/>
                  <a:pt x="42082" y="386341"/>
                </a:cubicBezTo>
                <a:cubicBezTo>
                  <a:pt x="42082" y="287522"/>
                  <a:pt x="32069" y="191042"/>
                  <a:pt x="13001" y="97860"/>
                </a:cubicBezTo>
                <a:lnTo>
                  <a:pt x="0" y="47297"/>
                </a:lnTo>
                <a:close/>
              </a:path>
            </a:pathLst>
          </a:custGeom>
          <a:solidFill>
            <a:srgbClr val="000000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5FEC415-AA0B-F310-AA16-A264D29623AE}"/>
              </a:ext>
            </a:extLst>
          </p:cNvPr>
          <p:cNvSpPr>
            <a:spLocks/>
          </p:cNvSpPr>
          <p:nvPr/>
        </p:nvSpPr>
        <p:spPr bwMode="auto">
          <a:xfrm>
            <a:off x="4959964" y="3922520"/>
            <a:ext cx="511625" cy="721790"/>
          </a:xfrm>
          <a:custGeom>
            <a:avLst/>
            <a:gdLst>
              <a:gd name="connsiteX0" fmla="*/ 324566 w 511625"/>
              <a:gd name="connsiteY0" fmla="*/ 0 h 721790"/>
              <a:gd name="connsiteX1" fmla="*/ 511625 w 511625"/>
              <a:gd name="connsiteY1" fmla="*/ 48060 h 721790"/>
              <a:gd name="connsiteX2" fmla="*/ 495892 w 511625"/>
              <a:gd name="connsiteY2" fmla="*/ 109248 h 721790"/>
              <a:gd name="connsiteX3" fmla="*/ 203279 w 511625"/>
              <a:gd name="connsiteY3" fmla="*/ 649698 h 721790"/>
              <a:gd name="connsiteX4" fmla="*/ 137758 w 511625"/>
              <a:gd name="connsiteY4" fmla="*/ 721790 h 721790"/>
              <a:gd name="connsiteX5" fmla="*/ 0 w 511625"/>
              <a:gd name="connsiteY5" fmla="*/ 592489 h 721790"/>
              <a:gd name="connsiteX6" fmla="*/ 47940 w 511625"/>
              <a:gd name="connsiteY6" fmla="*/ 539741 h 721790"/>
              <a:gd name="connsiteX7" fmla="*/ 310453 w 511625"/>
              <a:gd name="connsiteY7" fmla="*/ 54885 h 721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625" h="721790">
                <a:moveTo>
                  <a:pt x="324566" y="0"/>
                </a:moveTo>
                <a:lnTo>
                  <a:pt x="511625" y="48060"/>
                </a:lnTo>
                <a:lnTo>
                  <a:pt x="495892" y="109248"/>
                </a:lnTo>
                <a:cubicBezTo>
                  <a:pt x="433734" y="309094"/>
                  <a:pt x="333345" y="492095"/>
                  <a:pt x="203279" y="649698"/>
                </a:cubicBezTo>
                <a:lnTo>
                  <a:pt x="137758" y="721790"/>
                </a:lnTo>
                <a:lnTo>
                  <a:pt x="0" y="592489"/>
                </a:lnTo>
                <a:lnTo>
                  <a:pt x="47940" y="539741"/>
                </a:lnTo>
                <a:cubicBezTo>
                  <a:pt x="164626" y="398350"/>
                  <a:pt x="254689" y="234173"/>
                  <a:pt x="310453" y="54885"/>
                </a:cubicBezTo>
                <a:close/>
              </a:path>
            </a:pathLst>
          </a:custGeom>
          <a:solidFill>
            <a:srgbClr val="000000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3962676-3382-1073-F4F2-F67C96436F77}"/>
              </a:ext>
            </a:extLst>
          </p:cNvPr>
          <p:cNvSpPr>
            <a:spLocks/>
          </p:cNvSpPr>
          <p:nvPr/>
        </p:nvSpPr>
        <p:spPr bwMode="auto">
          <a:xfrm>
            <a:off x="4365351" y="4542181"/>
            <a:ext cx="707595" cy="533745"/>
          </a:xfrm>
          <a:custGeom>
            <a:avLst/>
            <a:gdLst>
              <a:gd name="connsiteX0" fmla="*/ 569916 w 707595"/>
              <a:gd name="connsiteY0" fmla="*/ 0 h 533745"/>
              <a:gd name="connsiteX1" fmla="*/ 707595 w 707595"/>
              <a:gd name="connsiteY1" fmla="*/ 129388 h 533745"/>
              <a:gd name="connsiteX2" fmla="*/ 694912 w 707595"/>
              <a:gd name="connsiteY2" fmla="*/ 143343 h 533745"/>
              <a:gd name="connsiteX3" fmla="*/ 187747 w 707595"/>
              <a:gd name="connsiteY3" fmla="*/ 485283 h 533745"/>
              <a:gd name="connsiteX4" fmla="*/ 55340 w 707595"/>
              <a:gd name="connsiteY4" fmla="*/ 533745 h 533745"/>
              <a:gd name="connsiteX5" fmla="*/ 0 w 707595"/>
              <a:gd name="connsiteY5" fmla="*/ 363330 h 533745"/>
              <a:gd name="connsiteX6" fmla="*/ 95172 w 707595"/>
              <a:gd name="connsiteY6" fmla="*/ 328496 h 533745"/>
              <a:gd name="connsiteX7" fmla="*/ 550166 w 707595"/>
              <a:gd name="connsiteY7" fmla="*/ 21731 h 533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7595" h="533745">
                <a:moveTo>
                  <a:pt x="569916" y="0"/>
                </a:moveTo>
                <a:lnTo>
                  <a:pt x="707595" y="129388"/>
                </a:lnTo>
                <a:lnTo>
                  <a:pt x="694912" y="143343"/>
                </a:lnTo>
                <a:cubicBezTo>
                  <a:pt x="550543" y="287712"/>
                  <a:pt x="378636" y="404544"/>
                  <a:pt x="187747" y="485283"/>
                </a:cubicBezTo>
                <a:lnTo>
                  <a:pt x="55340" y="533745"/>
                </a:lnTo>
                <a:lnTo>
                  <a:pt x="0" y="363330"/>
                </a:lnTo>
                <a:lnTo>
                  <a:pt x="95172" y="328496"/>
                </a:lnTo>
                <a:cubicBezTo>
                  <a:pt x="266425" y="256062"/>
                  <a:pt x="420648" y="151249"/>
                  <a:pt x="550166" y="21731"/>
                </a:cubicBezTo>
                <a:close/>
              </a:path>
            </a:pathLst>
          </a:custGeom>
          <a:solidFill>
            <a:srgbClr val="000000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484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DA341-5E6F-A846-E5F8-94A6A333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B0F8C4-42FF-2C0E-B995-753BC893CEC5}"/>
              </a:ext>
            </a:extLst>
          </p:cNvPr>
          <p:cNvSpPr txBox="1">
            <a:spLocks/>
          </p:cNvSpPr>
          <p:nvPr/>
        </p:nvSpPr>
        <p:spPr>
          <a:xfrm>
            <a:off x="419549" y="-156452"/>
            <a:ext cx="7753105" cy="9102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900" cap="al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Traditional Pipelines Struggle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6FA7F-CFBE-85E8-C096-2C2349BF8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1" t="13434" r="-2327" b="10042"/>
          <a:stretch>
            <a:fillRect/>
          </a:stretch>
        </p:blipFill>
        <p:spPr>
          <a:xfrm>
            <a:off x="1124590" y="1170038"/>
            <a:ext cx="10398816" cy="476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8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48988-FC07-FD89-02E8-45DE91431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E743A07-6C23-0D46-69DF-634BBF13E250}"/>
              </a:ext>
            </a:extLst>
          </p:cNvPr>
          <p:cNvSpPr txBox="1">
            <a:spLocks/>
          </p:cNvSpPr>
          <p:nvPr/>
        </p:nvSpPr>
        <p:spPr>
          <a:xfrm>
            <a:off x="397837" y="-141653"/>
            <a:ext cx="8598679" cy="9102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900" cap="al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GenAI Enhances DevOps Pipeline</a:t>
            </a:r>
            <a:endParaRPr lang="en-US" sz="2900" cap="al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DD11C-4D75-C72D-485B-EAC434F17C37}"/>
              </a:ext>
            </a:extLst>
          </p:cNvPr>
          <p:cNvSpPr txBox="1"/>
          <p:nvPr/>
        </p:nvSpPr>
        <p:spPr>
          <a:xfrm>
            <a:off x="397837" y="1763800"/>
            <a:ext cx="5215563" cy="3157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Adds intelligence across the pipeline (build, test, deploy, monitor)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Learns from past builds, tests, deployments, logs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risks early and suggests fixes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root cause analysis from logs &amp; traces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self-healing environments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A58F6-BDA5-974C-C228-0B52605C2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9"/>
          <a:stretch>
            <a:fillRect/>
          </a:stretch>
        </p:blipFill>
        <p:spPr>
          <a:xfrm>
            <a:off x="5772239" y="1246350"/>
            <a:ext cx="6192913" cy="431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24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FBA8-C368-47D9-DCA1-7F28B82C9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59976FF-5817-83D1-C143-577FFB03871C}"/>
              </a:ext>
            </a:extLst>
          </p:cNvPr>
          <p:cNvSpPr/>
          <p:nvPr/>
        </p:nvSpPr>
        <p:spPr>
          <a:xfrm>
            <a:off x="468000" y="879675"/>
            <a:ext cx="2307900" cy="4861931"/>
          </a:xfrm>
          <a:prstGeom prst="roundRect">
            <a:avLst>
              <a:gd name="adj" fmla="val 4361"/>
            </a:avLst>
          </a:prstGeom>
          <a:solidFill>
            <a:srgbClr val="302631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000" b="1" dirty="0"/>
              <a:t>Dev Workstation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74C25F4-E3B5-C465-5165-F5A7A47EDE45}"/>
              </a:ext>
            </a:extLst>
          </p:cNvPr>
          <p:cNvSpPr/>
          <p:nvPr/>
        </p:nvSpPr>
        <p:spPr>
          <a:xfrm>
            <a:off x="8968680" y="1290784"/>
            <a:ext cx="2876387" cy="4428448"/>
          </a:xfrm>
          <a:prstGeom prst="roundRect">
            <a:avLst>
              <a:gd name="adj" fmla="val 4361"/>
            </a:avLst>
          </a:prstGeom>
          <a:solidFill>
            <a:srgbClr val="303122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000" b="1" dirty="0"/>
              <a:t>Genai Brain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D62FD-006B-A406-7111-0EFF98E9A55A}"/>
              </a:ext>
            </a:extLst>
          </p:cNvPr>
          <p:cNvSpPr txBox="1">
            <a:spLocks/>
          </p:cNvSpPr>
          <p:nvPr/>
        </p:nvSpPr>
        <p:spPr>
          <a:xfrm>
            <a:off x="415036" y="42403"/>
            <a:ext cx="4611328" cy="7177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900" cap="all" dirty="0">
                <a:latin typeface="Fira Code Medium" panose="020B0809050000020004" pitchFamily="49" charset="0"/>
                <a:ea typeface="Fira Code Medium" panose="020B0809050000020004" pitchFamily="49" charset="0"/>
                <a:cs typeface="Fira Code Medium" panose="020B0809050000020004" pitchFamily="49" charset="0"/>
              </a:rPr>
              <a:t>GenAI Architecture</a:t>
            </a:r>
            <a:endParaRPr lang="en-US" sz="2900" cap="all" dirty="0">
              <a:latin typeface="Fira Code Medium" panose="020B0809050000020004" pitchFamily="49" charset="0"/>
              <a:ea typeface="Fira Code Medium" panose="020B0809050000020004" pitchFamily="49" charset="0"/>
              <a:cs typeface="Fira Code Medium" panose="020B0809050000020004" pitchFamily="49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ED93C0-5FE7-A909-1E8E-D977C3E61F7B}"/>
              </a:ext>
            </a:extLst>
          </p:cNvPr>
          <p:cNvSpPr txBox="1">
            <a:spLocks/>
          </p:cNvSpPr>
          <p:nvPr/>
        </p:nvSpPr>
        <p:spPr>
          <a:xfrm>
            <a:off x="282704" y="3770012"/>
            <a:ext cx="4611328" cy="7177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900" cap="all" dirty="0">
              <a:latin typeface="Fira Code Medium" panose="020B0809050000020004" pitchFamily="49" charset="0"/>
              <a:ea typeface="Fira Code Medium" panose="020B0809050000020004" pitchFamily="49" charset="0"/>
              <a:cs typeface="Fira Code Medium" panose="020B0809050000020004" pitchFamily="49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F62382-CA75-C254-4E93-CCFCD1C1442A}"/>
              </a:ext>
            </a:extLst>
          </p:cNvPr>
          <p:cNvSpPr/>
          <p:nvPr/>
        </p:nvSpPr>
        <p:spPr>
          <a:xfrm>
            <a:off x="692595" y="5471412"/>
            <a:ext cx="1574799" cy="386117"/>
          </a:xfrm>
          <a:prstGeom prst="roundRect">
            <a:avLst>
              <a:gd name="adj" fmla="val 10667"/>
            </a:avLst>
          </a:prstGeom>
          <a:solidFill>
            <a:srgbClr val="5F3C25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GitHub copilot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DCEB5E-B7EF-C8BD-5A83-F332EE3E2CAA}"/>
              </a:ext>
            </a:extLst>
          </p:cNvPr>
          <p:cNvSpPr/>
          <p:nvPr/>
        </p:nvSpPr>
        <p:spPr>
          <a:xfrm>
            <a:off x="240322" y="3240464"/>
            <a:ext cx="726426" cy="1174140"/>
          </a:xfrm>
          <a:prstGeom prst="roundRect">
            <a:avLst>
              <a:gd name="adj" fmla="val 10667"/>
            </a:avLst>
          </a:prstGeom>
          <a:solidFill>
            <a:srgbClr val="5F3C25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Vs code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9B6FE0-380D-5C1D-1CF8-289E0F14A00C}"/>
              </a:ext>
            </a:extLst>
          </p:cNvPr>
          <p:cNvSpPr/>
          <p:nvPr/>
        </p:nvSpPr>
        <p:spPr>
          <a:xfrm>
            <a:off x="1078572" y="1654568"/>
            <a:ext cx="1186986" cy="383170"/>
          </a:xfrm>
          <a:prstGeom prst="roundRect">
            <a:avLst>
              <a:gd name="adj" fmla="val 10667"/>
            </a:avLst>
          </a:prstGeom>
          <a:solidFill>
            <a:srgbClr val="5F3C25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Playwright E2E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763F2E-CB01-85D4-8D5C-05855D905233}"/>
              </a:ext>
            </a:extLst>
          </p:cNvPr>
          <p:cNvSpPr/>
          <p:nvPr/>
        </p:nvSpPr>
        <p:spPr>
          <a:xfrm>
            <a:off x="1293819" y="3437925"/>
            <a:ext cx="703745" cy="338907"/>
          </a:xfrm>
          <a:prstGeom prst="roundRect">
            <a:avLst>
              <a:gd name="adj" fmla="val 10667"/>
            </a:avLst>
          </a:prstGeom>
          <a:solidFill>
            <a:srgbClr val="5F3C25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MongoDB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FA3821-7D57-960C-67BD-8C20695E7392}"/>
              </a:ext>
            </a:extLst>
          </p:cNvPr>
          <p:cNvSpPr/>
          <p:nvPr/>
        </p:nvSpPr>
        <p:spPr>
          <a:xfrm>
            <a:off x="3101909" y="3231046"/>
            <a:ext cx="965200" cy="439975"/>
          </a:xfrm>
          <a:prstGeom prst="roundRect">
            <a:avLst>
              <a:gd name="adj" fmla="val 0"/>
            </a:avLst>
          </a:prstGeom>
          <a:solidFill>
            <a:srgbClr val="5F3C25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GitHub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B1658C-5493-014C-D5DF-5A14C134B813}"/>
              </a:ext>
            </a:extLst>
          </p:cNvPr>
          <p:cNvSpPr/>
          <p:nvPr/>
        </p:nvSpPr>
        <p:spPr>
          <a:xfrm>
            <a:off x="1315024" y="2342927"/>
            <a:ext cx="736584" cy="299218"/>
          </a:xfrm>
          <a:prstGeom prst="roundRect">
            <a:avLst>
              <a:gd name="adj" fmla="val 10667"/>
            </a:avLst>
          </a:prstGeom>
          <a:solidFill>
            <a:srgbClr val="5F3C25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React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A34302-BBB2-8F9C-BDE2-B578C64EDF9B}"/>
              </a:ext>
            </a:extLst>
          </p:cNvPr>
          <p:cNvSpPr/>
          <p:nvPr/>
        </p:nvSpPr>
        <p:spPr>
          <a:xfrm>
            <a:off x="1312475" y="2873992"/>
            <a:ext cx="703745" cy="332086"/>
          </a:xfrm>
          <a:prstGeom prst="roundRect">
            <a:avLst>
              <a:gd name="adj" fmla="val 10667"/>
            </a:avLst>
          </a:prstGeom>
          <a:solidFill>
            <a:srgbClr val="5F3C25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Nodejs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7DC0D2-3CC1-1F82-C2A1-A0F19655AAAA}"/>
              </a:ext>
            </a:extLst>
          </p:cNvPr>
          <p:cNvSpPr/>
          <p:nvPr/>
        </p:nvSpPr>
        <p:spPr>
          <a:xfrm>
            <a:off x="1747521" y="4040725"/>
            <a:ext cx="865446" cy="335455"/>
          </a:xfrm>
          <a:prstGeom prst="roundRect">
            <a:avLst>
              <a:gd name="adj" fmla="val 10667"/>
            </a:avLst>
          </a:prstGeom>
          <a:solidFill>
            <a:srgbClr val="5F3C25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Git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367A688-D35E-D87C-3A76-8D5FCB0DF8B7}"/>
              </a:ext>
            </a:extLst>
          </p:cNvPr>
          <p:cNvSpPr/>
          <p:nvPr/>
        </p:nvSpPr>
        <p:spPr>
          <a:xfrm>
            <a:off x="4568766" y="426720"/>
            <a:ext cx="2957446" cy="5427203"/>
          </a:xfrm>
          <a:prstGeom prst="roundRect">
            <a:avLst>
              <a:gd name="adj" fmla="val 2797"/>
            </a:avLst>
          </a:prstGeom>
          <a:solidFill>
            <a:srgbClr val="361F25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000" b="1" dirty="0"/>
              <a:t>Azure DevOps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95E46E-011D-0773-3495-B832FFFEAA70}"/>
              </a:ext>
            </a:extLst>
          </p:cNvPr>
          <p:cNvSpPr/>
          <p:nvPr/>
        </p:nvSpPr>
        <p:spPr>
          <a:xfrm>
            <a:off x="4894032" y="1600688"/>
            <a:ext cx="2278928" cy="813230"/>
          </a:xfrm>
          <a:prstGeom prst="roundRect">
            <a:avLst>
              <a:gd name="adj" fmla="val 4361"/>
            </a:avLst>
          </a:prstGeom>
          <a:solidFill>
            <a:srgbClr val="252A31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sz="800" dirty="0"/>
              <a:t>Build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r"/>
            <a:r>
              <a:rPr lang="en-US" sz="800" dirty="0"/>
              <a:t>Docker          Azure registry container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692C0C-5F0A-E7D7-56EC-B6EFE6E67098}"/>
              </a:ext>
            </a:extLst>
          </p:cNvPr>
          <p:cNvSpPr/>
          <p:nvPr/>
        </p:nvSpPr>
        <p:spPr>
          <a:xfrm>
            <a:off x="4881406" y="1004077"/>
            <a:ext cx="2306590" cy="394750"/>
          </a:xfrm>
          <a:prstGeom prst="roundRect">
            <a:avLst>
              <a:gd name="adj" fmla="val 4361"/>
            </a:avLst>
          </a:prstGeom>
          <a:solidFill>
            <a:srgbClr val="312E25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Azure DevOps Pipeline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3A8A94-DAEC-6F74-6D2D-EF9F1A08DDD7}"/>
              </a:ext>
            </a:extLst>
          </p:cNvPr>
          <p:cNvSpPr/>
          <p:nvPr/>
        </p:nvSpPr>
        <p:spPr>
          <a:xfrm>
            <a:off x="4754222" y="3761358"/>
            <a:ext cx="2418738" cy="844906"/>
          </a:xfrm>
          <a:prstGeom prst="roundRect">
            <a:avLst>
              <a:gd name="adj" fmla="val 4361"/>
            </a:avLst>
          </a:prstGeom>
          <a:solidFill>
            <a:srgbClr val="213232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sz="800" dirty="0"/>
              <a:t>Deploy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AKS Cluster     Kubernetes  Load balancer</a:t>
            </a:r>
          </a:p>
          <a:p>
            <a:pPr algn="ctr"/>
            <a:endParaRPr lang="en-US" sz="8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EAD4241-B32D-9E9D-B42E-71D555543629}"/>
              </a:ext>
            </a:extLst>
          </p:cNvPr>
          <p:cNvSpPr/>
          <p:nvPr/>
        </p:nvSpPr>
        <p:spPr>
          <a:xfrm>
            <a:off x="4857682" y="2701781"/>
            <a:ext cx="2291554" cy="776865"/>
          </a:xfrm>
          <a:prstGeom prst="roundRect">
            <a:avLst>
              <a:gd name="adj" fmla="val 4361"/>
            </a:avLst>
          </a:prstGeom>
          <a:solidFill>
            <a:srgbClr val="263029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sz="800" dirty="0"/>
              <a:t>Test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r>
              <a:rPr lang="en-US" sz="800" dirty="0"/>
              <a:t>Localhost80    playwright      Test Result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838E76B-55CC-493F-7383-5B167A74612C}"/>
              </a:ext>
            </a:extLst>
          </p:cNvPr>
          <p:cNvSpPr/>
          <p:nvPr/>
        </p:nvSpPr>
        <p:spPr>
          <a:xfrm>
            <a:off x="4881406" y="4836419"/>
            <a:ext cx="2291554" cy="844905"/>
          </a:xfrm>
          <a:prstGeom prst="roundRect">
            <a:avLst>
              <a:gd name="adj" fmla="val 4361"/>
            </a:avLst>
          </a:prstGeom>
          <a:solidFill>
            <a:srgbClr val="213232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sz="800" dirty="0"/>
              <a:t>Monitor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r>
              <a:rPr lang="en-US" sz="800" dirty="0"/>
              <a:t>Azure Monitor    Grafana     Notifications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07EC23AC-0734-0E31-E1C2-5FEEA7FBF633}"/>
              </a:ext>
            </a:extLst>
          </p:cNvPr>
          <p:cNvCxnSpPr>
            <a:cxnSpLocks/>
          </p:cNvCxnSpPr>
          <p:nvPr/>
        </p:nvCxnSpPr>
        <p:spPr>
          <a:xfrm flipV="1">
            <a:off x="966748" y="3040035"/>
            <a:ext cx="345727" cy="7874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2594D16D-31B6-B326-3827-E2F48821AD2F}"/>
              </a:ext>
            </a:extLst>
          </p:cNvPr>
          <p:cNvCxnSpPr/>
          <p:nvPr/>
        </p:nvCxnSpPr>
        <p:spPr>
          <a:xfrm>
            <a:off x="966748" y="4216400"/>
            <a:ext cx="7807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: Elbow 1057">
            <a:extLst>
              <a:ext uri="{FF2B5EF4-FFF2-40B4-BE49-F238E27FC236}">
                <a16:creationId xmlns:a16="http://schemas.microsoft.com/office/drawing/2014/main" id="{297D4A7D-5016-CB75-7EE4-0EDC2A626C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 rot="16200000" flipH="1">
            <a:off x="232567" y="4813808"/>
            <a:ext cx="974987" cy="245348"/>
          </a:xfrm>
          <a:prstGeom prst="bentConnector3">
            <a:avLst>
              <a:gd name="adj1" fmla="val 53562"/>
            </a:avLst>
          </a:prstGeom>
          <a:ln>
            <a:tailEnd type="triangle"/>
          </a:ln>
          <a:scene3d>
            <a:camera prst="orthographicFront">
              <a:rot lat="21299999" lon="0" rev="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8603F455-168B-49AC-7F11-6DCB7479C57B}"/>
              </a:ext>
            </a:extLst>
          </p:cNvPr>
          <p:cNvSpPr/>
          <p:nvPr/>
        </p:nvSpPr>
        <p:spPr>
          <a:xfrm>
            <a:off x="8490709" y="3107088"/>
            <a:ext cx="805691" cy="535751"/>
          </a:xfrm>
          <a:prstGeom prst="roundRect">
            <a:avLst>
              <a:gd name="adj" fmla="val 10667"/>
            </a:avLst>
          </a:prstGeom>
          <a:solidFill>
            <a:srgbClr val="622227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Azure OpenAI</a:t>
            </a:r>
          </a:p>
        </p:txBody>
      </p:sp>
      <p:sp>
        <p:nvSpPr>
          <p:cNvPr id="1066" name="Rectangle: Rounded Corners 1065">
            <a:extLst>
              <a:ext uri="{FF2B5EF4-FFF2-40B4-BE49-F238E27FC236}">
                <a16:creationId xmlns:a16="http://schemas.microsoft.com/office/drawing/2014/main" id="{3ED956AB-77F1-CEFC-C701-7E8F664FEA3A}"/>
              </a:ext>
            </a:extLst>
          </p:cNvPr>
          <p:cNvSpPr/>
          <p:nvPr/>
        </p:nvSpPr>
        <p:spPr>
          <a:xfrm>
            <a:off x="9580974" y="3269428"/>
            <a:ext cx="493905" cy="209287"/>
          </a:xfrm>
          <a:prstGeom prst="roundRect">
            <a:avLst>
              <a:gd name="adj" fmla="val 10667"/>
            </a:avLst>
          </a:prstGeom>
          <a:solidFill>
            <a:srgbClr val="622227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MCP</a:t>
            </a:r>
          </a:p>
        </p:txBody>
      </p:sp>
      <p:sp>
        <p:nvSpPr>
          <p:cNvPr id="1067" name="Rectangle: Rounded Corners 1066">
            <a:extLst>
              <a:ext uri="{FF2B5EF4-FFF2-40B4-BE49-F238E27FC236}">
                <a16:creationId xmlns:a16="http://schemas.microsoft.com/office/drawing/2014/main" id="{ADD43259-8AF4-C676-61D1-C23B9D9084C8}"/>
              </a:ext>
            </a:extLst>
          </p:cNvPr>
          <p:cNvSpPr/>
          <p:nvPr/>
        </p:nvSpPr>
        <p:spPr>
          <a:xfrm>
            <a:off x="10705489" y="1400652"/>
            <a:ext cx="1006329" cy="526125"/>
          </a:xfrm>
          <a:prstGeom prst="roundRect">
            <a:avLst>
              <a:gd name="adj" fmla="val 10667"/>
            </a:avLst>
          </a:prstGeom>
          <a:solidFill>
            <a:srgbClr val="622227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Self Healing</a:t>
            </a:r>
          </a:p>
        </p:txBody>
      </p:sp>
      <p:sp>
        <p:nvSpPr>
          <p:cNvPr id="1068" name="Rectangle: Rounded Corners 1067">
            <a:extLst>
              <a:ext uri="{FF2B5EF4-FFF2-40B4-BE49-F238E27FC236}">
                <a16:creationId xmlns:a16="http://schemas.microsoft.com/office/drawing/2014/main" id="{6D8CECD6-4D3B-43BB-AB59-B6157AAEE2AB}"/>
              </a:ext>
            </a:extLst>
          </p:cNvPr>
          <p:cNvSpPr/>
          <p:nvPr/>
        </p:nvSpPr>
        <p:spPr>
          <a:xfrm>
            <a:off x="10705489" y="2116020"/>
            <a:ext cx="1006329" cy="526125"/>
          </a:xfrm>
          <a:prstGeom prst="roundRect">
            <a:avLst>
              <a:gd name="adj" fmla="val 10667"/>
            </a:avLst>
          </a:prstGeom>
          <a:solidFill>
            <a:srgbClr val="622227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Suggest Fixes</a:t>
            </a:r>
          </a:p>
        </p:txBody>
      </p:sp>
      <p:sp>
        <p:nvSpPr>
          <p:cNvPr id="1069" name="Rectangle: Rounded Corners 1068">
            <a:extLst>
              <a:ext uri="{FF2B5EF4-FFF2-40B4-BE49-F238E27FC236}">
                <a16:creationId xmlns:a16="http://schemas.microsoft.com/office/drawing/2014/main" id="{DD0B4622-011B-CE11-1B20-8BE5B53E52C5}"/>
              </a:ext>
            </a:extLst>
          </p:cNvPr>
          <p:cNvSpPr/>
          <p:nvPr/>
        </p:nvSpPr>
        <p:spPr>
          <a:xfrm>
            <a:off x="10705489" y="2927471"/>
            <a:ext cx="1006329" cy="526125"/>
          </a:xfrm>
          <a:prstGeom prst="roundRect">
            <a:avLst>
              <a:gd name="adj" fmla="val 10667"/>
            </a:avLst>
          </a:prstGeom>
          <a:solidFill>
            <a:srgbClr val="622227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Infra Suggestions</a:t>
            </a:r>
          </a:p>
        </p:txBody>
      </p:sp>
      <p:sp>
        <p:nvSpPr>
          <p:cNvPr id="1070" name="Rectangle: Rounded Corners 1069">
            <a:extLst>
              <a:ext uri="{FF2B5EF4-FFF2-40B4-BE49-F238E27FC236}">
                <a16:creationId xmlns:a16="http://schemas.microsoft.com/office/drawing/2014/main" id="{80E32659-4CBE-92EB-C5FB-065F39191F41}"/>
              </a:ext>
            </a:extLst>
          </p:cNvPr>
          <p:cNvSpPr/>
          <p:nvPr/>
        </p:nvSpPr>
        <p:spPr>
          <a:xfrm>
            <a:off x="10705489" y="3642839"/>
            <a:ext cx="1006329" cy="526125"/>
          </a:xfrm>
          <a:prstGeom prst="roundRect">
            <a:avLst>
              <a:gd name="adj" fmla="val 10667"/>
            </a:avLst>
          </a:prstGeom>
          <a:solidFill>
            <a:srgbClr val="622227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Risk Detection</a:t>
            </a:r>
          </a:p>
        </p:txBody>
      </p:sp>
      <p:sp>
        <p:nvSpPr>
          <p:cNvPr id="1071" name="Rectangle: Rounded Corners 1070">
            <a:extLst>
              <a:ext uri="{FF2B5EF4-FFF2-40B4-BE49-F238E27FC236}">
                <a16:creationId xmlns:a16="http://schemas.microsoft.com/office/drawing/2014/main" id="{763DC507-727B-1488-7AE1-97B509794240}"/>
              </a:ext>
            </a:extLst>
          </p:cNvPr>
          <p:cNvSpPr/>
          <p:nvPr/>
        </p:nvSpPr>
        <p:spPr>
          <a:xfrm>
            <a:off x="10705489" y="4349595"/>
            <a:ext cx="1006329" cy="526125"/>
          </a:xfrm>
          <a:prstGeom prst="roundRect">
            <a:avLst>
              <a:gd name="adj" fmla="val 10667"/>
            </a:avLst>
          </a:prstGeom>
          <a:solidFill>
            <a:srgbClr val="622227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Auto Generate Tests</a:t>
            </a:r>
          </a:p>
        </p:txBody>
      </p:sp>
      <p:sp>
        <p:nvSpPr>
          <p:cNvPr id="1072" name="Rectangle: Rounded Corners 1071">
            <a:extLst>
              <a:ext uri="{FF2B5EF4-FFF2-40B4-BE49-F238E27FC236}">
                <a16:creationId xmlns:a16="http://schemas.microsoft.com/office/drawing/2014/main" id="{E91D5EAE-340C-171F-361F-6EF4E869B936}"/>
              </a:ext>
            </a:extLst>
          </p:cNvPr>
          <p:cNvSpPr/>
          <p:nvPr/>
        </p:nvSpPr>
        <p:spPr>
          <a:xfrm>
            <a:off x="10705489" y="5057359"/>
            <a:ext cx="1006329" cy="526125"/>
          </a:xfrm>
          <a:prstGeom prst="roundRect">
            <a:avLst>
              <a:gd name="adj" fmla="val 10667"/>
            </a:avLst>
          </a:prstGeom>
          <a:solidFill>
            <a:srgbClr val="622227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Root Cause Analysis</a:t>
            </a:r>
          </a:p>
        </p:txBody>
      </p:sp>
      <p:pic>
        <p:nvPicPr>
          <p:cNvPr id="1078" name="Picture 20" descr="Github Copilot icon in Windows 11 Color Style">
            <a:extLst>
              <a:ext uri="{FF2B5EF4-FFF2-40B4-BE49-F238E27FC236}">
                <a16:creationId xmlns:a16="http://schemas.microsoft.com/office/drawing/2014/main" id="{6F581CBF-4842-6269-011D-0599FFFCE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183" y="5262630"/>
            <a:ext cx="303452" cy="30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6" descr="Free React Icon - Free Download Logos ...">
            <a:extLst>
              <a:ext uri="{FF2B5EF4-FFF2-40B4-BE49-F238E27FC236}">
                <a16:creationId xmlns:a16="http://schemas.microsoft.com/office/drawing/2014/main" id="{75EBB4A6-69C9-3E32-044D-F1C8689D8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745" y="2078284"/>
            <a:ext cx="336471" cy="336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8" descr="Vector Javascript Node Js Transparent ...">
            <a:extLst>
              <a:ext uri="{FF2B5EF4-FFF2-40B4-BE49-F238E27FC236}">
                <a16:creationId xmlns:a16="http://schemas.microsoft.com/office/drawing/2014/main" id="{EFFD85F3-A827-4351-4B51-199E701FD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511" y="2773456"/>
            <a:ext cx="418966" cy="184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1" name="Picture 12">
            <a:extLst>
              <a:ext uri="{FF2B5EF4-FFF2-40B4-BE49-F238E27FC236}">
                <a16:creationId xmlns:a16="http://schemas.microsoft.com/office/drawing/2014/main" id="{2EE712F4-E825-C681-A35E-67350344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835" y="3331096"/>
            <a:ext cx="551023" cy="14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4" descr="Visual Studio Code and VS Code icons and names usage guidelines">
            <a:extLst>
              <a:ext uri="{FF2B5EF4-FFF2-40B4-BE49-F238E27FC236}">
                <a16:creationId xmlns:a16="http://schemas.microsoft.com/office/drawing/2014/main" id="{14DC02C7-084D-AD00-D7C6-F993D42BF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4" y="3055453"/>
            <a:ext cx="662926" cy="63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16" descr="Playwright API Integrations - Pipedream">
            <a:extLst>
              <a:ext uri="{FF2B5EF4-FFF2-40B4-BE49-F238E27FC236}">
                <a16:creationId xmlns:a16="http://schemas.microsoft.com/office/drawing/2014/main" id="{F99CDE1A-AE14-4713-3EF5-6E040D1E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589" y="1410030"/>
            <a:ext cx="396888" cy="39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14" descr="Git Logo png images | PNGEgg">
            <a:extLst>
              <a:ext uri="{FF2B5EF4-FFF2-40B4-BE49-F238E27FC236}">
                <a16:creationId xmlns:a16="http://schemas.microsoft.com/office/drawing/2014/main" id="{3DEA31CF-DBDF-3DBB-243E-B2BD36F22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006" y="3825542"/>
            <a:ext cx="341780" cy="30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2" descr="Github Icon png images | PNGEgg">
            <a:extLst>
              <a:ext uri="{FF2B5EF4-FFF2-40B4-BE49-F238E27FC236}">
                <a16:creationId xmlns:a16="http://schemas.microsoft.com/office/drawing/2014/main" id="{A4D95173-AA9D-8792-45AD-F2B051A0F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783" y="2823497"/>
            <a:ext cx="489320" cy="48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7" name="Picture 22" descr="Azure Devops SVG and transparent PNG icons | TechIcons">
            <a:extLst>
              <a:ext uri="{FF2B5EF4-FFF2-40B4-BE49-F238E27FC236}">
                <a16:creationId xmlns:a16="http://schemas.microsoft.com/office/drawing/2014/main" id="{52AFF639-4996-94F4-D41E-9D67B5EA0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643" y="602340"/>
            <a:ext cx="503199" cy="50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ocker,Dockerfile and Django. Docker itself is kind of a larger tool… | by  Sarthak Kumar | Medium">
            <a:extLst>
              <a:ext uri="{FF2B5EF4-FFF2-40B4-BE49-F238E27FC236}">
                <a16:creationId xmlns:a16="http://schemas.microsoft.com/office/drawing/2014/main" id="{74D5BD20-E1A2-EAB8-B752-F2C7EE96D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879" y="1717386"/>
            <a:ext cx="635872" cy="36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icing - Container Registry | Microsoft Azure">
            <a:extLst>
              <a:ext uri="{FF2B5EF4-FFF2-40B4-BE49-F238E27FC236}">
                <a16:creationId xmlns:a16="http://schemas.microsoft.com/office/drawing/2014/main" id="{94FC0315-2FFD-773D-B1F5-64465A2B2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958" y="1656491"/>
            <a:ext cx="963448" cy="50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laywright Logo &amp; Brand Assets (SVG ...">
            <a:extLst>
              <a:ext uri="{FF2B5EF4-FFF2-40B4-BE49-F238E27FC236}">
                <a16:creationId xmlns:a16="http://schemas.microsoft.com/office/drawing/2014/main" id="{5B4D9AB8-13E5-94A9-F6C7-68F9A6E45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891" y="2971144"/>
            <a:ext cx="860091" cy="17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Test report icon (44549169) – Royalty ...">
            <a:extLst>
              <a:ext uri="{FF2B5EF4-FFF2-40B4-BE49-F238E27FC236}">
                <a16:creationId xmlns:a16="http://schemas.microsoft.com/office/drawing/2014/main" id="{5136E45D-7BBC-21DC-0E58-E9E544D0E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331" y="2780543"/>
            <a:ext cx="380076" cy="409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Accessing Localhost Server From Ionic App Running on a Mobile Device  (iOS/Android) | Elite Ionic">
            <a:extLst>
              <a:ext uri="{FF2B5EF4-FFF2-40B4-BE49-F238E27FC236}">
                <a16:creationId xmlns:a16="http://schemas.microsoft.com/office/drawing/2014/main" id="{681E6D8F-77FC-F485-79EF-6CFC3F6DE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954" y="2863926"/>
            <a:ext cx="336871" cy="336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ricing - Azure Kubernetes Service (AKS) | Microsoft Azure">
            <a:extLst>
              <a:ext uri="{FF2B5EF4-FFF2-40B4-BE49-F238E27FC236}">
                <a16:creationId xmlns:a16="http://schemas.microsoft.com/office/drawing/2014/main" id="{7FE28BDB-8629-68B4-DFA1-0B7A82E6C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125" y="3966848"/>
            <a:ext cx="569109" cy="353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Pricing - Azure Monitor | Microsoft Azure">
            <a:extLst>
              <a:ext uri="{FF2B5EF4-FFF2-40B4-BE49-F238E27FC236}">
                <a16:creationId xmlns:a16="http://schemas.microsoft.com/office/drawing/2014/main" id="{5B98C3B9-2674-7BBE-F3B7-6C670198F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401" y="5072285"/>
            <a:ext cx="583614" cy="32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Free: Grafana - Prometheus Grafana Logo ...">
            <a:extLst>
              <a:ext uri="{FF2B5EF4-FFF2-40B4-BE49-F238E27FC236}">
                <a16:creationId xmlns:a16="http://schemas.microsoft.com/office/drawing/2014/main" id="{B96C3F1E-9B45-BF58-05F1-48F022B0D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142" y="5072807"/>
            <a:ext cx="507160" cy="32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Royal azure blue google alerts icon ...">
            <a:extLst>
              <a:ext uri="{FF2B5EF4-FFF2-40B4-BE49-F238E27FC236}">
                <a16:creationId xmlns:a16="http://schemas.microsoft.com/office/drawing/2014/main" id="{558476B3-9147-CF3C-9D60-E1606686A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308" y="5072807"/>
            <a:ext cx="398604" cy="32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Azure Icons - Download the Azure OpenAI ...">
            <a:extLst>
              <a:ext uri="{FF2B5EF4-FFF2-40B4-BE49-F238E27FC236}">
                <a16:creationId xmlns:a16="http://schemas.microsoft.com/office/drawing/2014/main" id="{7614D758-3DED-5116-416F-4CB9DF7DC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320" y="2886645"/>
            <a:ext cx="319399" cy="31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2" name="Picture 34" descr="Brain Logo Vector Art, Icons, and ...">
            <a:extLst>
              <a:ext uri="{FF2B5EF4-FFF2-40B4-BE49-F238E27FC236}">
                <a16:creationId xmlns:a16="http://schemas.microsoft.com/office/drawing/2014/main" id="{1BDACECE-1723-7128-FB5F-21EC63666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7793" y="2978768"/>
            <a:ext cx="319888" cy="30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2287025-B4C8-024A-9B71-1A7CD0972860}"/>
              </a:ext>
            </a:extLst>
          </p:cNvPr>
          <p:cNvCxnSpPr>
            <a:cxnSpLocks/>
          </p:cNvCxnSpPr>
          <p:nvPr/>
        </p:nvCxnSpPr>
        <p:spPr>
          <a:xfrm>
            <a:off x="984678" y="3642839"/>
            <a:ext cx="30914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: Elbow 1038">
            <a:extLst>
              <a:ext uri="{FF2B5EF4-FFF2-40B4-BE49-F238E27FC236}">
                <a16:creationId xmlns:a16="http://schemas.microsoft.com/office/drawing/2014/main" id="{B9EFA6D3-3442-19F0-58A1-C352808271A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83280" y="1371600"/>
            <a:ext cx="1655868" cy="12590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77D9BB0B-107C-A87B-B166-65E147DC229E}"/>
              </a:ext>
            </a:extLst>
          </p:cNvPr>
          <p:cNvCxnSpPr>
            <a:stCxn id="12" idx="3"/>
            <a:endCxn id="9" idx="2"/>
          </p:cNvCxnSpPr>
          <p:nvPr/>
        </p:nvCxnSpPr>
        <p:spPr>
          <a:xfrm flipV="1">
            <a:off x="2612967" y="3671021"/>
            <a:ext cx="971542" cy="5374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B60EBAF0-7F19-ACF5-4D75-121848207AFE}"/>
              </a:ext>
            </a:extLst>
          </p:cNvPr>
          <p:cNvCxnSpPr>
            <a:cxnSpLocks/>
            <a:endCxn id="1067" idx="1"/>
          </p:cNvCxnSpPr>
          <p:nvPr/>
        </p:nvCxnSpPr>
        <p:spPr>
          <a:xfrm rot="5400000" flipH="1" flipV="1">
            <a:off x="9619086" y="1892366"/>
            <a:ext cx="1315054" cy="85775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: Elbow 1050">
            <a:extLst>
              <a:ext uri="{FF2B5EF4-FFF2-40B4-BE49-F238E27FC236}">
                <a16:creationId xmlns:a16="http://schemas.microsoft.com/office/drawing/2014/main" id="{02D37DBD-4A2F-9D2C-1DCB-7EF2A0D10F8B}"/>
              </a:ext>
            </a:extLst>
          </p:cNvPr>
          <p:cNvCxnSpPr>
            <a:cxnSpLocks/>
            <a:endCxn id="1068" idx="1"/>
          </p:cNvCxnSpPr>
          <p:nvPr/>
        </p:nvCxnSpPr>
        <p:spPr>
          <a:xfrm flipV="1">
            <a:off x="10006856" y="2379083"/>
            <a:ext cx="698633" cy="6832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: Elbow 1058">
            <a:extLst>
              <a:ext uri="{FF2B5EF4-FFF2-40B4-BE49-F238E27FC236}">
                <a16:creationId xmlns:a16="http://schemas.microsoft.com/office/drawing/2014/main" id="{F7356BFE-0523-00DE-F56F-9D146641E960}"/>
              </a:ext>
            </a:extLst>
          </p:cNvPr>
          <p:cNvCxnSpPr>
            <a:cxnSpLocks/>
          </p:cNvCxnSpPr>
          <p:nvPr/>
        </p:nvCxnSpPr>
        <p:spPr>
          <a:xfrm flipV="1">
            <a:off x="10074879" y="3238581"/>
            <a:ext cx="630610" cy="140562"/>
          </a:xfrm>
          <a:prstGeom prst="bentConnector3">
            <a:avLst>
              <a:gd name="adj1" fmla="val 54531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: Elbow 1059">
            <a:extLst>
              <a:ext uri="{FF2B5EF4-FFF2-40B4-BE49-F238E27FC236}">
                <a16:creationId xmlns:a16="http://schemas.microsoft.com/office/drawing/2014/main" id="{806A8085-1692-9A2D-816C-B10ACBB08C88}"/>
              </a:ext>
            </a:extLst>
          </p:cNvPr>
          <p:cNvCxnSpPr>
            <a:cxnSpLocks/>
            <a:stCxn id="1066" idx="2"/>
          </p:cNvCxnSpPr>
          <p:nvPr/>
        </p:nvCxnSpPr>
        <p:spPr>
          <a:xfrm rot="16200000" flipH="1">
            <a:off x="10053115" y="3253527"/>
            <a:ext cx="427186" cy="87756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: Elbow 1062">
            <a:extLst>
              <a:ext uri="{FF2B5EF4-FFF2-40B4-BE49-F238E27FC236}">
                <a16:creationId xmlns:a16="http://schemas.microsoft.com/office/drawing/2014/main" id="{70C200AE-58CD-D606-61D7-C1407EB87AAB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44408" y="3543423"/>
            <a:ext cx="1125022" cy="99714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: Elbow 1074">
            <a:extLst>
              <a:ext uri="{FF2B5EF4-FFF2-40B4-BE49-F238E27FC236}">
                <a16:creationId xmlns:a16="http://schemas.microsoft.com/office/drawing/2014/main" id="{A46E19AE-0608-D6A7-7168-D9CE30D28334}"/>
              </a:ext>
            </a:extLst>
          </p:cNvPr>
          <p:cNvCxnSpPr>
            <a:cxnSpLocks/>
            <a:endCxn id="1072" idx="1"/>
          </p:cNvCxnSpPr>
          <p:nvPr/>
        </p:nvCxnSpPr>
        <p:spPr>
          <a:xfrm rot="16200000" flipH="1">
            <a:off x="9431049" y="4045982"/>
            <a:ext cx="1850246" cy="69863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5" name="Straight Arrow Connector 2054">
            <a:extLst>
              <a:ext uri="{FF2B5EF4-FFF2-40B4-BE49-F238E27FC236}">
                <a16:creationId xmlns:a16="http://schemas.microsoft.com/office/drawing/2014/main" id="{5D9EB297-30A2-CE8F-1F8F-1CC31B9AB027}"/>
              </a:ext>
            </a:extLst>
          </p:cNvPr>
          <p:cNvCxnSpPr>
            <a:cxnSpLocks/>
            <a:stCxn id="1065" idx="3"/>
            <a:endCxn id="1066" idx="1"/>
          </p:cNvCxnSpPr>
          <p:nvPr/>
        </p:nvCxnSpPr>
        <p:spPr>
          <a:xfrm flipV="1">
            <a:off x="9296400" y="3374072"/>
            <a:ext cx="284574" cy="8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1" name="Connector: Elbow 2060">
            <a:extLst>
              <a:ext uri="{FF2B5EF4-FFF2-40B4-BE49-F238E27FC236}">
                <a16:creationId xmlns:a16="http://schemas.microsoft.com/office/drawing/2014/main" id="{A5F65D0B-C2E3-AD11-4FDA-9DF821F0CDE5}"/>
              </a:ext>
            </a:extLst>
          </p:cNvPr>
          <p:cNvCxnSpPr>
            <a:cxnSpLocks/>
          </p:cNvCxnSpPr>
          <p:nvPr/>
        </p:nvCxnSpPr>
        <p:spPr>
          <a:xfrm>
            <a:off x="7197653" y="2052747"/>
            <a:ext cx="1293056" cy="1153297"/>
          </a:xfrm>
          <a:prstGeom prst="bentConnector3">
            <a:avLst>
              <a:gd name="adj1" fmla="val 65217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1" name="Connector: Elbow 2070">
            <a:extLst>
              <a:ext uri="{FF2B5EF4-FFF2-40B4-BE49-F238E27FC236}">
                <a16:creationId xmlns:a16="http://schemas.microsoft.com/office/drawing/2014/main" id="{F140D09E-38B7-5C28-12CD-AD26C2927F12}"/>
              </a:ext>
            </a:extLst>
          </p:cNvPr>
          <p:cNvCxnSpPr>
            <a:cxnSpLocks/>
            <a:endCxn id="1065" idx="1"/>
          </p:cNvCxnSpPr>
          <p:nvPr/>
        </p:nvCxnSpPr>
        <p:spPr>
          <a:xfrm>
            <a:off x="7196897" y="3107088"/>
            <a:ext cx="1293812" cy="267876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7" name="Connector: Elbow 2076">
            <a:extLst>
              <a:ext uri="{FF2B5EF4-FFF2-40B4-BE49-F238E27FC236}">
                <a16:creationId xmlns:a16="http://schemas.microsoft.com/office/drawing/2014/main" id="{10652D51-FA13-E5F6-CED5-8E0FEA72D02E}"/>
              </a:ext>
            </a:extLst>
          </p:cNvPr>
          <p:cNvCxnSpPr>
            <a:cxnSpLocks/>
          </p:cNvCxnSpPr>
          <p:nvPr/>
        </p:nvCxnSpPr>
        <p:spPr>
          <a:xfrm flipV="1">
            <a:off x="7172960" y="3531202"/>
            <a:ext cx="1317749" cy="63215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3" name="Connector: Elbow 2082">
            <a:extLst>
              <a:ext uri="{FF2B5EF4-FFF2-40B4-BE49-F238E27FC236}">
                <a16:creationId xmlns:a16="http://schemas.microsoft.com/office/drawing/2014/main" id="{95171C60-E6B4-979F-6D02-CF4CE9556C0F}"/>
              </a:ext>
            </a:extLst>
          </p:cNvPr>
          <p:cNvCxnSpPr>
            <a:cxnSpLocks/>
            <a:endCxn id="1065" idx="2"/>
          </p:cNvCxnSpPr>
          <p:nvPr/>
        </p:nvCxnSpPr>
        <p:spPr>
          <a:xfrm flipV="1">
            <a:off x="7196896" y="3642839"/>
            <a:ext cx="1696659" cy="1586186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1" name="Straight Arrow Connector 2090">
            <a:extLst>
              <a:ext uri="{FF2B5EF4-FFF2-40B4-BE49-F238E27FC236}">
                <a16:creationId xmlns:a16="http://schemas.microsoft.com/office/drawing/2014/main" id="{8DFAE3A6-F3BC-09D1-FAFA-DB4FD1983029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6034701" y="1398827"/>
            <a:ext cx="0" cy="19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6" name="Straight Arrow Connector 2095">
            <a:extLst>
              <a:ext uri="{FF2B5EF4-FFF2-40B4-BE49-F238E27FC236}">
                <a16:creationId xmlns:a16="http://schemas.microsoft.com/office/drawing/2014/main" id="{EABD660B-9686-672D-80FF-390B7473B686}"/>
              </a:ext>
            </a:extLst>
          </p:cNvPr>
          <p:cNvCxnSpPr>
            <a:cxnSpLocks/>
          </p:cNvCxnSpPr>
          <p:nvPr/>
        </p:nvCxnSpPr>
        <p:spPr>
          <a:xfrm>
            <a:off x="5998048" y="2443086"/>
            <a:ext cx="0" cy="19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5" name="Straight Arrow Connector 2104">
            <a:extLst>
              <a:ext uri="{FF2B5EF4-FFF2-40B4-BE49-F238E27FC236}">
                <a16:creationId xmlns:a16="http://schemas.microsoft.com/office/drawing/2014/main" id="{08911D18-9B0F-3ABE-903D-504064918300}"/>
              </a:ext>
            </a:extLst>
          </p:cNvPr>
          <p:cNvCxnSpPr>
            <a:cxnSpLocks/>
          </p:cNvCxnSpPr>
          <p:nvPr/>
        </p:nvCxnSpPr>
        <p:spPr>
          <a:xfrm>
            <a:off x="5998048" y="4612657"/>
            <a:ext cx="0" cy="19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Straight Arrow Connector 2106">
            <a:extLst>
              <a:ext uri="{FF2B5EF4-FFF2-40B4-BE49-F238E27FC236}">
                <a16:creationId xmlns:a16="http://schemas.microsoft.com/office/drawing/2014/main" id="{BA2A2423-0233-D98E-7F30-3FECF46F0C7F}"/>
              </a:ext>
            </a:extLst>
          </p:cNvPr>
          <p:cNvCxnSpPr/>
          <p:nvPr/>
        </p:nvCxnSpPr>
        <p:spPr>
          <a:xfrm>
            <a:off x="5998048" y="3505008"/>
            <a:ext cx="0" cy="220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Connector: Elbow 2109">
            <a:extLst>
              <a:ext uri="{FF2B5EF4-FFF2-40B4-BE49-F238E27FC236}">
                <a16:creationId xmlns:a16="http://schemas.microsoft.com/office/drawing/2014/main" id="{BB44FE65-B465-A3C4-546C-DF5CAA7C25FC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H="1">
            <a:off x="240322" y="3631376"/>
            <a:ext cx="8443780" cy="196158"/>
          </a:xfrm>
          <a:prstGeom prst="bentConnector5">
            <a:avLst>
              <a:gd name="adj1" fmla="val -1610"/>
              <a:gd name="adj2" fmla="val -1136060"/>
              <a:gd name="adj3" fmla="val 100087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5" name="Straight Arrow Connector 2154">
            <a:extLst>
              <a:ext uri="{FF2B5EF4-FFF2-40B4-BE49-F238E27FC236}">
                <a16:creationId xmlns:a16="http://schemas.microsoft.com/office/drawing/2014/main" id="{BB9D2498-833C-1169-4737-D52B789F616B}"/>
              </a:ext>
            </a:extLst>
          </p:cNvPr>
          <p:cNvCxnSpPr>
            <a:cxnSpLocks/>
          </p:cNvCxnSpPr>
          <p:nvPr/>
        </p:nvCxnSpPr>
        <p:spPr>
          <a:xfrm flipV="1">
            <a:off x="3851103" y="3663426"/>
            <a:ext cx="0" cy="2194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9" name="Connector: Elbow 2158">
            <a:extLst>
              <a:ext uri="{FF2B5EF4-FFF2-40B4-BE49-F238E27FC236}">
                <a16:creationId xmlns:a16="http://schemas.microsoft.com/office/drawing/2014/main" id="{92CBCA18-1718-EF33-1316-B61150D389F6}"/>
              </a:ext>
            </a:extLst>
          </p:cNvPr>
          <p:cNvCxnSpPr>
            <a:endCxn id="1065" idx="2"/>
          </p:cNvCxnSpPr>
          <p:nvPr/>
        </p:nvCxnSpPr>
        <p:spPr>
          <a:xfrm flipV="1">
            <a:off x="3851103" y="3642839"/>
            <a:ext cx="5042452" cy="22146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1" name="Connector: Elbow 2160">
            <a:extLst>
              <a:ext uri="{FF2B5EF4-FFF2-40B4-BE49-F238E27FC236}">
                <a16:creationId xmlns:a16="http://schemas.microsoft.com/office/drawing/2014/main" id="{6B4B24FF-BCC2-AAE5-97FB-4A9156FD1212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229908" y="2213634"/>
            <a:ext cx="1216145" cy="4811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7" name="Connector: Elbow 2166">
            <a:extLst>
              <a:ext uri="{FF2B5EF4-FFF2-40B4-BE49-F238E27FC236}">
                <a16:creationId xmlns:a16="http://schemas.microsoft.com/office/drawing/2014/main" id="{D62B0DA7-4B42-99C3-00DF-08FF3B424BB0}"/>
              </a:ext>
            </a:extLst>
          </p:cNvPr>
          <p:cNvCxnSpPr>
            <a:cxnSpLocks/>
            <a:endCxn id="10" idx="1"/>
          </p:cNvCxnSpPr>
          <p:nvPr/>
        </p:nvCxnSpPr>
        <p:spPr>
          <a:xfrm rot="5400000" flipH="1" flipV="1">
            <a:off x="694917" y="2501255"/>
            <a:ext cx="628826" cy="6113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Kubernetes Logo SVG PNG Transparent Icons">
            <a:extLst>
              <a:ext uri="{FF2B5EF4-FFF2-40B4-BE49-F238E27FC236}">
                <a16:creationId xmlns:a16="http://schemas.microsoft.com/office/drawing/2014/main" id="{420E5D2F-11C0-467C-383D-101AEB2D1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347" y="3977215"/>
            <a:ext cx="395864" cy="39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 Azure Load balancing Cloud ...">
            <a:extLst>
              <a:ext uri="{FF2B5EF4-FFF2-40B4-BE49-F238E27FC236}">
                <a16:creationId xmlns:a16="http://schemas.microsoft.com/office/drawing/2014/main" id="{CFBDCB95-C8BF-D9A1-79D0-6D0563788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789" y="4001822"/>
            <a:ext cx="485413" cy="31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75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FD55-D888-5A23-F3A0-B63CBF3C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269A86F-8FC8-ACDE-E5B7-587152A3DF6E}"/>
              </a:ext>
            </a:extLst>
          </p:cNvPr>
          <p:cNvSpPr txBox="1">
            <a:spLocks/>
          </p:cNvSpPr>
          <p:nvPr/>
        </p:nvSpPr>
        <p:spPr>
          <a:xfrm>
            <a:off x="447818" y="-104193"/>
            <a:ext cx="7057882" cy="8315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cap="al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GenAI in Build &amp; Testing Stage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52C80-80F2-FC66-EDD5-FEB9099A9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0" t="20488" r="11408" b="15388"/>
          <a:stretch>
            <a:fillRect/>
          </a:stretch>
        </p:blipFill>
        <p:spPr>
          <a:xfrm>
            <a:off x="0" y="1764505"/>
            <a:ext cx="6475156" cy="399664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1CB979A-EE32-6B27-A3CB-3612F7A28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6" t="16959" r="7355" b="6360"/>
          <a:stretch>
            <a:fillRect/>
          </a:stretch>
        </p:blipFill>
        <p:spPr>
          <a:xfrm>
            <a:off x="6963059" y="1462864"/>
            <a:ext cx="4944690" cy="437799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DA6390-5655-7A74-A79D-C7FC69F62630}"/>
              </a:ext>
            </a:extLst>
          </p:cNvPr>
          <p:cNvCxnSpPr/>
          <p:nvPr/>
        </p:nvCxnSpPr>
        <p:spPr>
          <a:xfrm>
            <a:off x="6475161" y="825601"/>
            <a:ext cx="0" cy="5575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CB577C1B-C59A-1992-CCF9-0F1AA15C06D3}"/>
              </a:ext>
            </a:extLst>
          </p:cNvPr>
          <p:cNvSpPr txBox="1">
            <a:spLocks/>
          </p:cNvSpPr>
          <p:nvPr/>
        </p:nvSpPr>
        <p:spPr>
          <a:xfrm>
            <a:off x="183257" y="946810"/>
            <a:ext cx="5912733" cy="5160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Improving Build Stability &amp; Speed With Intelligent Automation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C93581C-9CAC-4965-88B2-0C868CAC79E5}"/>
              </a:ext>
            </a:extLst>
          </p:cNvPr>
          <p:cNvSpPr txBox="1">
            <a:spLocks/>
          </p:cNvSpPr>
          <p:nvPr/>
        </p:nvSpPr>
        <p:spPr>
          <a:xfrm>
            <a:off x="6674495" y="957084"/>
            <a:ext cx="5045681" cy="4955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Making Testing Faster, Smarter And Rish-aware</a:t>
            </a:r>
          </a:p>
        </p:txBody>
      </p:sp>
    </p:spTree>
    <p:extLst>
      <p:ext uri="{BB962C8B-B14F-4D97-AF65-F5344CB8AC3E}">
        <p14:creationId xmlns:p14="http://schemas.microsoft.com/office/powerpoint/2010/main" val="1950678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7F93B7F9-F367-5661-2FB2-B8345B19AB12}"/>
              </a:ext>
            </a:extLst>
          </p:cNvPr>
          <p:cNvGrpSpPr/>
          <p:nvPr/>
        </p:nvGrpSpPr>
        <p:grpSpPr>
          <a:xfrm>
            <a:off x="8922328" y="2827873"/>
            <a:ext cx="2956560" cy="1351708"/>
            <a:chOff x="9013417" y="2577912"/>
            <a:chExt cx="2956560" cy="135170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6969698-EFC6-5492-D229-E1DA6E0C6703}"/>
                </a:ext>
              </a:extLst>
            </p:cNvPr>
            <p:cNvSpPr txBox="1"/>
            <p:nvPr/>
          </p:nvSpPr>
          <p:spPr>
            <a:xfrm>
              <a:off x="9013417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rgbClr val="FBA91E"/>
                  </a:solidFill>
                  <a:latin typeface="Calibri" panose="020F0502020204030204"/>
                </a:rPr>
                <a:t>Suggest Deployment Strategy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92EBC92-9D36-4C2D-94C0-CC498632A2E1}"/>
                </a:ext>
              </a:extLst>
            </p:cNvPr>
            <p:cNvSpPr txBox="1"/>
            <p:nvPr/>
          </p:nvSpPr>
          <p:spPr>
            <a:xfrm>
              <a:off x="9043897" y="3406400"/>
              <a:ext cx="2926080" cy="52322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Suggests best-fit deployment strategy using change impact analysis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36C7D28-906A-842D-65A2-638712E36B2F}"/>
              </a:ext>
            </a:extLst>
          </p:cNvPr>
          <p:cNvGrpSpPr/>
          <p:nvPr/>
        </p:nvGrpSpPr>
        <p:grpSpPr>
          <a:xfrm>
            <a:off x="8924852" y="4459413"/>
            <a:ext cx="2926080" cy="1351708"/>
            <a:chOff x="9287737" y="4283006"/>
            <a:chExt cx="2926080" cy="135170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6EF0346-F5D4-212E-50CD-FADEC64C975D}"/>
                </a:ext>
              </a:extLst>
            </p:cNvPr>
            <p:cNvSpPr txBox="1"/>
            <p:nvPr/>
          </p:nvSpPr>
          <p:spPr>
            <a:xfrm>
              <a:off x="9287737" y="4283006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rgbClr val="6EA56C"/>
                  </a:solidFill>
                  <a:latin typeface="Calibri" panose="020F0502020204030204"/>
                </a:rPr>
                <a:t>Automate Rollback Logic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E6A14EE-2247-6E5F-49AD-C2ACC1F69077}"/>
                </a:ext>
              </a:extLst>
            </p:cNvPr>
            <p:cNvSpPr txBox="1"/>
            <p:nvPr/>
          </p:nvSpPr>
          <p:spPr>
            <a:xfrm>
              <a:off x="9287737" y="5111494"/>
              <a:ext cx="2926080" cy="52322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Automates rollback logic by identifying critical thresholds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77847C-E798-443D-8145-13D1E4C767E0}"/>
              </a:ext>
            </a:extLst>
          </p:cNvPr>
          <p:cNvGrpSpPr/>
          <p:nvPr/>
        </p:nvGrpSpPr>
        <p:grpSpPr>
          <a:xfrm>
            <a:off x="501601" y="3513288"/>
            <a:ext cx="2941320" cy="1567152"/>
            <a:chOff x="332936" y="2577912"/>
            <a:chExt cx="2941320" cy="156715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2F71261-9CE7-8B04-FE93-4177D1CA71E6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>
                  <a:solidFill>
                    <a:srgbClr val="3AC6E1"/>
                  </a:solidFill>
                  <a:latin typeface="Calibri" panose="020F0502020204030204"/>
                </a:rPr>
                <a:t>Improve Deployment Confidence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20B9560-A8FD-7DC1-6730-61EB6B8A41E6}"/>
                </a:ext>
              </a:extLst>
            </p:cNvPr>
            <p:cNvSpPr txBox="1"/>
            <p:nvPr/>
          </p:nvSpPr>
          <p:spPr>
            <a:xfrm>
              <a:off x="348176" y="3406400"/>
              <a:ext cx="2926080" cy="738664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Improves deployment confidence across multi-service/multi-cloud pipelines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FDE363-4657-D87E-1D4F-DEB676E96CB1}"/>
              </a:ext>
            </a:extLst>
          </p:cNvPr>
          <p:cNvGrpSpPr/>
          <p:nvPr/>
        </p:nvGrpSpPr>
        <p:grpSpPr>
          <a:xfrm>
            <a:off x="8892057" y="1168388"/>
            <a:ext cx="2956560" cy="1351708"/>
            <a:chOff x="9287737" y="872818"/>
            <a:chExt cx="2956560" cy="1351708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B42ADB0-1583-9CCF-5041-6689F3920AEC}"/>
                </a:ext>
              </a:extLst>
            </p:cNvPr>
            <p:cNvSpPr txBox="1"/>
            <p:nvPr/>
          </p:nvSpPr>
          <p:spPr>
            <a:xfrm>
              <a:off x="9318217" y="872818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rgbClr val="F15F47"/>
                  </a:solidFill>
                  <a:latin typeface="Calibri" panose="020F0502020204030204"/>
                </a:rPr>
                <a:t>Recommend Rollout Windows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9F23002-E92A-AFEE-24F0-AAE851DFD8FD}"/>
                </a:ext>
              </a:extLst>
            </p:cNvPr>
            <p:cNvSpPr txBox="1"/>
            <p:nvPr/>
          </p:nvSpPr>
          <p:spPr>
            <a:xfrm>
              <a:off x="9287737" y="1701306"/>
              <a:ext cx="2926080" cy="52322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Recommends optimal rollout windows based on success rates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EDB88BF-7482-24AC-4D1F-9CDC9E4CABDA}"/>
              </a:ext>
            </a:extLst>
          </p:cNvPr>
          <p:cNvGrpSpPr/>
          <p:nvPr/>
        </p:nvGrpSpPr>
        <p:grpSpPr>
          <a:xfrm>
            <a:off x="504824" y="1444132"/>
            <a:ext cx="2977862" cy="1351708"/>
            <a:chOff x="281154" y="2258434"/>
            <a:chExt cx="2977862" cy="135170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C98EC4-9722-2E10-2E38-411C8520AF04}"/>
                </a:ext>
              </a:extLst>
            </p:cNvPr>
            <p:cNvSpPr txBox="1"/>
            <p:nvPr/>
          </p:nvSpPr>
          <p:spPr>
            <a:xfrm>
              <a:off x="332936" y="2258434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rgbClr val="FEDA2F"/>
                  </a:solidFill>
                  <a:latin typeface="Calibri" panose="020F0502020204030204"/>
                </a:rPr>
                <a:t>Analyze Pre-Deploy Metrics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A99C1D5-4081-363D-1DCA-58192F57298B}"/>
                </a:ext>
              </a:extLst>
            </p:cNvPr>
            <p:cNvSpPr txBox="1"/>
            <p:nvPr/>
          </p:nvSpPr>
          <p:spPr>
            <a:xfrm>
              <a:off x="281154" y="3086922"/>
              <a:ext cx="2926080" cy="52322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Predicts release risks by analyzing metricst. </a:t>
              </a:r>
            </a:p>
          </p:txBody>
        </p:sp>
      </p:grpSp>
      <p:sp>
        <p:nvSpPr>
          <p:cNvPr id="45" name="Shape">
            <a:extLst>
              <a:ext uri="{FF2B5EF4-FFF2-40B4-BE49-F238E27FC236}">
                <a16:creationId xmlns:a16="http://schemas.microsoft.com/office/drawing/2014/main" id="{62CDCF5C-B3A1-8266-2096-898A9509BDD1}"/>
              </a:ext>
            </a:extLst>
          </p:cNvPr>
          <p:cNvSpPr/>
          <p:nvPr/>
        </p:nvSpPr>
        <p:spPr>
          <a:xfrm>
            <a:off x="3946147" y="1634766"/>
            <a:ext cx="4295822" cy="4114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75" h="21169" extrusionOk="0">
                <a:moveTo>
                  <a:pt x="19033" y="9718"/>
                </a:moveTo>
                <a:cubicBezTo>
                  <a:pt x="18305" y="9470"/>
                  <a:pt x="17548" y="9574"/>
                  <a:pt x="16931" y="9940"/>
                </a:cubicBezTo>
                <a:cubicBezTo>
                  <a:pt x="16881" y="9969"/>
                  <a:pt x="16832" y="10000"/>
                  <a:pt x="16785" y="10034"/>
                </a:cubicBezTo>
                <a:cubicBezTo>
                  <a:pt x="16759" y="10052"/>
                  <a:pt x="16732" y="10070"/>
                  <a:pt x="16707" y="10090"/>
                </a:cubicBezTo>
                <a:cubicBezTo>
                  <a:pt x="16656" y="10127"/>
                  <a:pt x="16605" y="10163"/>
                  <a:pt x="16549" y="10194"/>
                </a:cubicBezTo>
                <a:cubicBezTo>
                  <a:pt x="15946" y="10523"/>
                  <a:pt x="15225" y="10607"/>
                  <a:pt x="14528" y="10370"/>
                </a:cubicBezTo>
                <a:cubicBezTo>
                  <a:pt x="13834" y="10134"/>
                  <a:pt x="13299" y="9622"/>
                  <a:pt x="12990" y="8986"/>
                </a:cubicBezTo>
                <a:cubicBezTo>
                  <a:pt x="12979" y="8936"/>
                  <a:pt x="12965" y="8888"/>
                  <a:pt x="12950" y="8839"/>
                </a:cubicBezTo>
                <a:cubicBezTo>
                  <a:pt x="12819" y="8413"/>
                  <a:pt x="12782" y="7955"/>
                  <a:pt x="12911" y="7529"/>
                </a:cubicBezTo>
                <a:cubicBezTo>
                  <a:pt x="12999" y="7237"/>
                  <a:pt x="13135" y="6955"/>
                  <a:pt x="13321" y="6696"/>
                </a:cubicBezTo>
                <a:cubicBezTo>
                  <a:pt x="13764" y="6078"/>
                  <a:pt x="14402" y="5710"/>
                  <a:pt x="15074" y="5614"/>
                </a:cubicBezTo>
                <a:cubicBezTo>
                  <a:pt x="15135" y="5605"/>
                  <a:pt x="15196" y="5605"/>
                  <a:pt x="15259" y="5605"/>
                </a:cubicBezTo>
                <a:cubicBezTo>
                  <a:pt x="15290" y="5605"/>
                  <a:pt x="15322" y="5605"/>
                  <a:pt x="15353" y="5604"/>
                </a:cubicBezTo>
                <a:cubicBezTo>
                  <a:pt x="15409" y="5602"/>
                  <a:pt x="15466" y="5596"/>
                  <a:pt x="15522" y="5591"/>
                </a:cubicBezTo>
                <a:cubicBezTo>
                  <a:pt x="16267" y="5512"/>
                  <a:pt x="16978" y="5100"/>
                  <a:pt x="17441" y="4387"/>
                </a:cubicBezTo>
                <a:cubicBezTo>
                  <a:pt x="18205" y="3211"/>
                  <a:pt x="17991" y="1567"/>
                  <a:pt x="16956" y="652"/>
                </a:cubicBezTo>
                <a:cubicBezTo>
                  <a:pt x="15789" y="-379"/>
                  <a:pt x="14058" y="-160"/>
                  <a:pt x="13148" y="1109"/>
                </a:cubicBezTo>
                <a:cubicBezTo>
                  <a:pt x="12685" y="1754"/>
                  <a:pt x="12527" y="2542"/>
                  <a:pt x="12649" y="3282"/>
                </a:cubicBezTo>
                <a:cubicBezTo>
                  <a:pt x="12660" y="3342"/>
                  <a:pt x="12670" y="3401"/>
                  <a:pt x="12683" y="3458"/>
                </a:cubicBezTo>
                <a:cubicBezTo>
                  <a:pt x="12690" y="3491"/>
                  <a:pt x="12699" y="3521"/>
                  <a:pt x="12707" y="3554"/>
                </a:cubicBezTo>
                <a:cubicBezTo>
                  <a:pt x="12724" y="3617"/>
                  <a:pt x="12739" y="3679"/>
                  <a:pt x="12748" y="3744"/>
                </a:cubicBezTo>
                <a:cubicBezTo>
                  <a:pt x="12841" y="4456"/>
                  <a:pt x="12676" y="5205"/>
                  <a:pt x="12234" y="5823"/>
                </a:cubicBezTo>
                <a:cubicBezTo>
                  <a:pt x="11786" y="6446"/>
                  <a:pt x="11139" y="6814"/>
                  <a:pt x="10459" y="6906"/>
                </a:cubicBezTo>
                <a:cubicBezTo>
                  <a:pt x="10438" y="6906"/>
                  <a:pt x="10420" y="6904"/>
                  <a:pt x="10401" y="6904"/>
                </a:cubicBezTo>
                <a:cubicBezTo>
                  <a:pt x="10365" y="6904"/>
                  <a:pt x="10331" y="6910"/>
                  <a:pt x="10296" y="6911"/>
                </a:cubicBezTo>
                <a:cubicBezTo>
                  <a:pt x="9603" y="6836"/>
                  <a:pt x="8942" y="6478"/>
                  <a:pt x="8478" y="5851"/>
                </a:cubicBezTo>
                <a:cubicBezTo>
                  <a:pt x="8027" y="5241"/>
                  <a:pt x="7854" y="4495"/>
                  <a:pt x="7937" y="3784"/>
                </a:cubicBezTo>
                <a:cubicBezTo>
                  <a:pt x="7944" y="3719"/>
                  <a:pt x="7959" y="3654"/>
                  <a:pt x="7976" y="3591"/>
                </a:cubicBezTo>
                <a:cubicBezTo>
                  <a:pt x="7985" y="3559"/>
                  <a:pt x="7991" y="3529"/>
                  <a:pt x="7998" y="3496"/>
                </a:cubicBezTo>
                <a:cubicBezTo>
                  <a:pt x="8010" y="3437"/>
                  <a:pt x="8020" y="3378"/>
                  <a:pt x="8030" y="3318"/>
                </a:cubicBezTo>
                <a:cubicBezTo>
                  <a:pt x="8147" y="2535"/>
                  <a:pt x="7954" y="1701"/>
                  <a:pt x="7419" y="1046"/>
                </a:cubicBezTo>
                <a:cubicBezTo>
                  <a:pt x="6539" y="-36"/>
                  <a:pt x="4983" y="-237"/>
                  <a:pt x="3883" y="591"/>
                </a:cubicBezTo>
                <a:cubicBezTo>
                  <a:pt x="2643" y="1524"/>
                  <a:pt x="2402" y="3352"/>
                  <a:pt x="3328" y="4606"/>
                </a:cubicBezTo>
                <a:cubicBezTo>
                  <a:pt x="3800" y="5244"/>
                  <a:pt x="4480" y="5607"/>
                  <a:pt x="5186" y="5672"/>
                </a:cubicBezTo>
                <a:cubicBezTo>
                  <a:pt x="5242" y="5677"/>
                  <a:pt x="5300" y="5681"/>
                  <a:pt x="5356" y="5683"/>
                </a:cubicBezTo>
                <a:cubicBezTo>
                  <a:pt x="5387" y="5683"/>
                  <a:pt x="5419" y="5683"/>
                  <a:pt x="5449" y="5683"/>
                </a:cubicBezTo>
                <a:cubicBezTo>
                  <a:pt x="5510" y="5681"/>
                  <a:pt x="5573" y="5681"/>
                  <a:pt x="5634" y="5690"/>
                </a:cubicBezTo>
                <a:cubicBezTo>
                  <a:pt x="6308" y="5776"/>
                  <a:pt x="6949" y="6135"/>
                  <a:pt x="7401" y="6744"/>
                </a:cubicBezTo>
                <a:cubicBezTo>
                  <a:pt x="7840" y="7339"/>
                  <a:pt x="8013" y="8061"/>
                  <a:pt x="7945" y="8756"/>
                </a:cubicBezTo>
                <a:cubicBezTo>
                  <a:pt x="7930" y="8801"/>
                  <a:pt x="7913" y="8846"/>
                  <a:pt x="7900" y="8893"/>
                </a:cubicBezTo>
                <a:cubicBezTo>
                  <a:pt x="7901" y="8884"/>
                  <a:pt x="7903" y="8875"/>
                  <a:pt x="7906" y="8866"/>
                </a:cubicBezTo>
                <a:cubicBezTo>
                  <a:pt x="7609" y="9549"/>
                  <a:pt x="7056" y="10104"/>
                  <a:pt x="6330" y="10357"/>
                </a:cubicBezTo>
                <a:cubicBezTo>
                  <a:pt x="5634" y="10600"/>
                  <a:pt x="4911" y="10519"/>
                  <a:pt x="4306" y="10196"/>
                </a:cubicBezTo>
                <a:cubicBezTo>
                  <a:pt x="4251" y="10167"/>
                  <a:pt x="4199" y="10129"/>
                  <a:pt x="4149" y="10093"/>
                </a:cubicBezTo>
                <a:cubicBezTo>
                  <a:pt x="4124" y="10075"/>
                  <a:pt x="4099" y="10055"/>
                  <a:pt x="4071" y="10039"/>
                </a:cubicBezTo>
                <a:cubicBezTo>
                  <a:pt x="4024" y="10007"/>
                  <a:pt x="3975" y="9976"/>
                  <a:pt x="3925" y="9948"/>
                </a:cubicBezTo>
                <a:cubicBezTo>
                  <a:pt x="3304" y="9585"/>
                  <a:pt x="2548" y="9486"/>
                  <a:pt x="1821" y="9739"/>
                </a:cubicBezTo>
                <a:cubicBezTo>
                  <a:pt x="393" y="10237"/>
                  <a:pt x="-366" y="11899"/>
                  <a:pt x="175" y="13402"/>
                </a:cubicBezTo>
                <a:cubicBezTo>
                  <a:pt x="656" y="14737"/>
                  <a:pt x="2054" y="15486"/>
                  <a:pt x="3354" y="15104"/>
                </a:cubicBezTo>
                <a:cubicBezTo>
                  <a:pt x="4141" y="14872"/>
                  <a:pt x="4740" y="14293"/>
                  <a:pt x="5054" y="13575"/>
                </a:cubicBezTo>
                <a:cubicBezTo>
                  <a:pt x="5078" y="13521"/>
                  <a:pt x="5100" y="13465"/>
                  <a:pt x="5120" y="13410"/>
                </a:cubicBezTo>
                <a:cubicBezTo>
                  <a:pt x="5132" y="13379"/>
                  <a:pt x="5142" y="13348"/>
                  <a:pt x="5152" y="13316"/>
                </a:cubicBezTo>
                <a:cubicBezTo>
                  <a:pt x="5173" y="13253"/>
                  <a:pt x="5193" y="13192"/>
                  <a:pt x="5222" y="13135"/>
                </a:cubicBezTo>
                <a:cubicBezTo>
                  <a:pt x="5527" y="12493"/>
                  <a:pt x="6064" y="11976"/>
                  <a:pt x="6759" y="11733"/>
                </a:cubicBezTo>
                <a:cubicBezTo>
                  <a:pt x="7341" y="11530"/>
                  <a:pt x="7942" y="11556"/>
                  <a:pt x="8477" y="11759"/>
                </a:cubicBezTo>
                <a:cubicBezTo>
                  <a:pt x="8648" y="11823"/>
                  <a:pt x="8806" y="11924"/>
                  <a:pt x="8957" y="12032"/>
                </a:cubicBezTo>
                <a:cubicBezTo>
                  <a:pt x="8960" y="12033"/>
                  <a:pt x="8964" y="12037"/>
                  <a:pt x="8967" y="12039"/>
                </a:cubicBezTo>
                <a:cubicBezTo>
                  <a:pt x="9468" y="12542"/>
                  <a:pt x="9785" y="13246"/>
                  <a:pt x="9795" y="14035"/>
                </a:cubicBezTo>
                <a:cubicBezTo>
                  <a:pt x="9805" y="14809"/>
                  <a:pt x="9515" y="15515"/>
                  <a:pt x="9042" y="16029"/>
                </a:cubicBezTo>
                <a:cubicBezTo>
                  <a:pt x="8999" y="16076"/>
                  <a:pt x="8950" y="16117"/>
                  <a:pt x="8903" y="16157"/>
                </a:cubicBezTo>
                <a:cubicBezTo>
                  <a:pt x="8879" y="16176"/>
                  <a:pt x="8853" y="16198"/>
                  <a:pt x="8830" y="16218"/>
                </a:cubicBezTo>
                <a:cubicBezTo>
                  <a:pt x="8785" y="16257"/>
                  <a:pt x="8745" y="16297"/>
                  <a:pt x="8702" y="16338"/>
                </a:cubicBezTo>
                <a:cubicBezTo>
                  <a:pt x="8161" y="16886"/>
                  <a:pt x="7839" y="17673"/>
                  <a:pt x="7888" y="18537"/>
                </a:cubicBezTo>
                <a:cubicBezTo>
                  <a:pt x="7969" y="19962"/>
                  <a:pt x="9093" y="21120"/>
                  <a:pt x="10440" y="21167"/>
                </a:cubicBezTo>
                <a:cubicBezTo>
                  <a:pt x="11960" y="21221"/>
                  <a:pt x="13197" y="19920"/>
                  <a:pt x="13179" y="18329"/>
                </a:cubicBezTo>
                <a:cubicBezTo>
                  <a:pt x="13169" y="17518"/>
                  <a:pt x="12834" y="16792"/>
                  <a:pt x="12310" y="16289"/>
                </a:cubicBezTo>
                <a:cubicBezTo>
                  <a:pt x="12268" y="16250"/>
                  <a:pt x="12225" y="16210"/>
                  <a:pt x="12181" y="16173"/>
                </a:cubicBezTo>
                <a:cubicBezTo>
                  <a:pt x="12157" y="16153"/>
                  <a:pt x="12132" y="16133"/>
                  <a:pt x="12106" y="16113"/>
                </a:cubicBezTo>
                <a:cubicBezTo>
                  <a:pt x="12057" y="16074"/>
                  <a:pt x="12006" y="16034"/>
                  <a:pt x="11962" y="15989"/>
                </a:cubicBezTo>
                <a:cubicBezTo>
                  <a:pt x="11477" y="15488"/>
                  <a:pt x="11170" y="14791"/>
                  <a:pt x="11161" y="14017"/>
                </a:cubicBezTo>
                <a:cubicBezTo>
                  <a:pt x="11158" y="13697"/>
                  <a:pt x="11205" y="13390"/>
                  <a:pt x="11295" y="13102"/>
                </a:cubicBezTo>
                <a:cubicBezTo>
                  <a:pt x="11453" y="12601"/>
                  <a:pt x="11774" y="12183"/>
                  <a:pt x="12154" y="11841"/>
                </a:cubicBezTo>
                <a:cubicBezTo>
                  <a:pt x="12278" y="11730"/>
                  <a:pt x="12391" y="11606"/>
                  <a:pt x="12495" y="11473"/>
                </a:cubicBezTo>
                <a:cubicBezTo>
                  <a:pt x="12352" y="11662"/>
                  <a:pt x="12191" y="11830"/>
                  <a:pt x="12011" y="11974"/>
                </a:cubicBezTo>
                <a:cubicBezTo>
                  <a:pt x="12631" y="11608"/>
                  <a:pt x="13386" y="11503"/>
                  <a:pt x="14115" y="11751"/>
                </a:cubicBezTo>
                <a:cubicBezTo>
                  <a:pt x="14813" y="11989"/>
                  <a:pt x="15351" y="12502"/>
                  <a:pt x="15661" y="13142"/>
                </a:cubicBezTo>
                <a:cubicBezTo>
                  <a:pt x="15690" y="13201"/>
                  <a:pt x="15711" y="13262"/>
                  <a:pt x="15731" y="13323"/>
                </a:cubicBezTo>
                <a:cubicBezTo>
                  <a:pt x="15741" y="13354"/>
                  <a:pt x="15751" y="13384"/>
                  <a:pt x="15763" y="13415"/>
                </a:cubicBezTo>
                <a:cubicBezTo>
                  <a:pt x="15784" y="13471"/>
                  <a:pt x="15807" y="13526"/>
                  <a:pt x="15831" y="13580"/>
                </a:cubicBezTo>
                <a:cubicBezTo>
                  <a:pt x="16148" y="14297"/>
                  <a:pt x="16752" y="14872"/>
                  <a:pt x="17542" y="15098"/>
                </a:cubicBezTo>
                <a:cubicBezTo>
                  <a:pt x="18843" y="15470"/>
                  <a:pt x="20238" y="14712"/>
                  <a:pt x="20710" y="13374"/>
                </a:cubicBezTo>
                <a:cubicBezTo>
                  <a:pt x="21234" y="11861"/>
                  <a:pt x="20465" y="10205"/>
                  <a:pt x="19033" y="9718"/>
                </a:cubicBezTo>
                <a:close/>
                <a:moveTo>
                  <a:pt x="7845" y="9114"/>
                </a:moveTo>
                <a:cubicBezTo>
                  <a:pt x="7856" y="9062"/>
                  <a:pt x="7867" y="9010"/>
                  <a:pt x="7881" y="8958"/>
                </a:cubicBezTo>
                <a:cubicBezTo>
                  <a:pt x="7867" y="9008"/>
                  <a:pt x="7856" y="9060"/>
                  <a:pt x="7845" y="9114"/>
                </a:cubicBezTo>
                <a:close/>
                <a:moveTo>
                  <a:pt x="7811" y="9326"/>
                </a:moveTo>
                <a:cubicBezTo>
                  <a:pt x="7815" y="9297"/>
                  <a:pt x="7818" y="9270"/>
                  <a:pt x="7823" y="9242"/>
                </a:cubicBezTo>
                <a:cubicBezTo>
                  <a:pt x="7818" y="9270"/>
                  <a:pt x="7815" y="9299"/>
                  <a:pt x="7811" y="9326"/>
                </a:cubicBezTo>
                <a:close/>
                <a:moveTo>
                  <a:pt x="12602" y="11306"/>
                </a:moveTo>
                <a:cubicBezTo>
                  <a:pt x="12573" y="11353"/>
                  <a:pt x="12541" y="11397"/>
                  <a:pt x="12508" y="11441"/>
                </a:cubicBezTo>
                <a:cubicBezTo>
                  <a:pt x="12542" y="11397"/>
                  <a:pt x="12573" y="11353"/>
                  <a:pt x="12602" y="11306"/>
                </a:cubicBezTo>
                <a:close/>
              </a:path>
            </a:pathLst>
          </a:custGeom>
          <a:solidFill>
            <a:srgbClr val="FFFFFF">
              <a:lumMod val="85000"/>
            </a:srgbClr>
          </a:solidFill>
          <a:ln w="12700">
            <a:miter lim="400000"/>
          </a:ln>
          <a:effectLst>
            <a:innerShdw blurRad="63500" dist="50800" dir="2700000">
              <a:prstClr val="black">
                <a:alpha val="15000"/>
              </a:prstClr>
            </a:innerShdw>
          </a:effectLst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C50019B3-415D-0359-0892-90804A134589}"/>
              </a:ext>
            </a:extLst>
          </p:cNvPr>
          <p:cNvSpPr/>
          <p:nvPr/>
        </p:nvSpPr>
        <p:spPr>
          <a:xfrm>
            <a:off x="5619133" y="3038365"/>
            <a:ext cx="949850" cy="949847"/>
          </a:xfrm>
          <a:prstGeom prst="ellipse">
            <a:avLst/>
          </a:prstGeom>
          <a:solidFill>
            <a:srgbClr val="FFFFFF">
              <a:lumMod val="50000"/>
            </a:srgbClr>
          </a:solidFill>
          <a:ln w="12700">
            <a:miter lim="400000"/>
          </a:ln>
          <a:effectLst>
            <a:innerShdw dist="38100" dir="2700000">
              <a:prstClr val="black">
                <a:alpha val="15000"/>
              </a:prstClr>
            </a:innerShdw>
          </a:effectLst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7" name="Circle">
            <a:extLst>
              <a:ext uri="{FF2B5EF4-FFF2-40B4-BE49-F238E27FC236}">
                <a16:creationId xmlns:a16="http://schemas.microsoft.com/office/drawing/2014/main" id="{E26EB03A-2FF9-7778-D8AE-262CEB5955A5}"/>
              </a:ext>
            </a:extLst>
          </p:cNvPr>
          <p:cNvSpPr/>
          <p:nvPr/>
        </p:nvSpPr>
        <p:spPr>
          <a:xfrm>
            <a:off x="4586220" y="1707875"/>
            <a:ext cx="949850" cy="949847"/>
          </a:xfrm>
          <a:prstGeom prst="ellipse">
            <a:avLst/>
          </a:prstGeom>
          <a:solidFill>
            <a:srgbClr val="FEDA2F"/>
          </a:solidFill>
          <a:ln w="12700">
            <a:miter lim="400000"/>
          </a:ln>
          <a:effectLst>
            <a:innerShdw dist="38100" dir="2700000">
              <a:prstClr val="black">
                <a:alpha val="15000"/>
              </a:prstClr>
            </a:innerShdw>
          </a:effectLst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8" name="Circle">
            <a:extLst>
              <a:ext uri="{FF2B5EF4-FFF2-40B4-BE49-F238E27FC236}">
                <a16:creationId xmlns:a16="http://schemas.microsoft.com/office/drawing/2014/main" id="{8ADBCF42-EF61-01DC-8F97-E854BE86753E}"/>
              </a:ext>
            </a:extLst>
          </p:cNvPr>
          <p:cNvSpPr/>
          <p:nvPr/>
        </p:nvSpPr>
        <p:spPr>
          <a:xfrm>
            <a:off x="6602073" y="1700606"/>
            <a:ext cx="949850" cy="949847"/>
          </a:xfrm>
          <a:prstGeom prst="ellipse">
            <a:avLst/>
          </a:prstGeom>
          <a:solidFill>
            <a:srgbClr val="F15F47"/>
          </a:solidFill>
          <a:ln w="12700">
            <a:miter lim="400000"/>
          </a:ln>
          <a:effectLst>
            <a:innerShdw dist="38100" dir="2700000">
              <a:prstClr val="black">
                <a:alpha val="15000"/>
              </a:prstClr>
            </a:innerShdw>
          </a:effectLst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9" name="Circle">
            <a:extLst>
              <a:ext uri="{FF2B5EF4-FFF2-40B4-BE49-F238E27FC236}">
                <a16:creationId xmlns:a16="http://schemas.microsoft.com/office/drawing/2014/main" id="{A79AF523-6368-D0F8-6899-FC742232F229}"/>
              </a:ext>
            </a:extLst>
          </p:cNvPr>
          <p:cNvSpPr/>
          <p:nvPr/>
        </p:nvSpPr>
        <p:spPr>
          <a:xfrm>
            <a:off x="7225012" y="3550820"/>
            <a:ext cx="949847" cy="949847"/>
          </a:xfrm>
          <a:prstGeom prst="ellipse">
            <a:avLst/>
          </a:prstGeom>
          <a:solidFill>
            <a:srgbClr val="FBA91E"/>
          </a:solidFill>
          <a:ln w="12700">
            <a:miter lim="400000"/>
          </a:ln>
          <a:effectLst>
            <a:innerShdw dist="38100" dir="2700000">
              <a:prstClr val="black">
                <a:alpha val="15000"/>
              </a:prstClr>
            </a:innerShdw>
          </a:effectLst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0" name="Circle">
            <a:extLst>
              <a:ext uri="{FF2B5EF4-FFF2-40B4-BE49-F238E27FC236}">
                <a16:creationId xmlns:a16="http://schemas.microsoft.com/office/drawing/2014/main" id="{2D8DC073-A3B8-9525-675A-0CB7ACA55B41}"/>
              </a:ext>
            </a:extLst>
          </p:cNvPr>
          <p:cNvSpPr/>
          <p:nvPr/>
        </p:nvSpPr>
        <p:spPr>
          <a:xfrm>
            <a:off x="5642085" y="4720754"/>
            <a:ext cx="949850" cy="949847"/>
          </a:xfrm>
          <a:prstGeom prst="ellipse">
            <a:avLst/>
          </a:prstGeom>
          <a:solidFill>
            <a:srgbClr val="6EA56C"/>
          </a:solidFill>
          <a:ln w="12700">
            <a:miter lim="400000"/>
          </a:ln>
          <a:effectLst>
            <a:innerShdw dist="38100" dir="2700000">
              <a:prstClr val="black">
                <a:alpha val="15000"/>
              </a:prstClr>
            </a:innerShdw>
          </a:effectLst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1" name="Circle">
            <a:extLst>
              <a:ext uri="{FF2B5EF4-FFF2-40B4-BE49-F238E27FC236}">
                <a16:creationId xmlns:a16="http://schemas.microsoft.com/office/drawing/2014/main" id="{63286B0B-B03B-7936-9853-52291DEEE07B}"/>
              </a:ext>
            </a:extLst>
          </p:cNvPr>
          <p:cNvSpPr/>
          <p:nvPr/>
        </p:nvSpPr>
        <p:spPr>
          <a:xfrm>
            <a:off x="4013253" y="3565872"/>
            <a:ext cx="949850" cy="949847"/>
          </a:xfrm>
          <a:prstGeom prst="ellipse">
            <a:avLst/>
          </a:prstGeom>
          <a:solidFill>
            <a:srgbClr val="3AC6E1"/>
          </a:solidFill>
          <a:ln w="12700">
            <a:miter lim="400000"/>
          </a:ln>
          <a:effectLst>
            <a:innerShdw dist="38100" dir="2700000">
              <a:prstClr val="black">
                <a:alpha val="15000"/>
              </a:prstClr>
            </a:innerShdw>
          </a:effectLst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BCFAA957-92A6-4ABB-A608-72D500D31CE5}"/>
              </a:ext>
            </a:extLst>
          </p:cNvPr>
          <p:cNvSpPr txBox="1">
            <a:spLocks/>
          </p:cNvSpPr>
          <p:nvPr/>
        </p:nvSpPr>
        <p:spPr>
          <a:xfrm>
            <a:off x="389722" y="-91278"/>
            <a:ext cx="6075918" cy="8315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cap="al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GenAI in Deployment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54E71-7935-638F-D001-B914C50B9A09}"/>
              </a:ext>
            </a:extLst>
          </p:cNvPr>
          <p:cNvSpPr txBox="1">
            <a:spLocks/>
          </p:cNvSpPr>
          <p:nvPr/>
        </p:nvSpPr>
        <p:spPr>
          <a:xfrm>
            <a:off x="4303935" y="772259"/>
            <a:ext cx="5186918" cy="5331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/>
              <a:t>Smarter Deployment Strategies </a:t>
            </a:r>
            <a:endParaRPr lang="en-US" sz="1800">
              <a:latin typeface="Fira Code Medium" panose="020B0809050000020004" pitchFamily="49" charset="0"/>
              <a:ea typeface="Fira Code Medium" panose="020B0809050000020004" pitchFamily="49" charset="0"/>
              <a:cs typeface="Fira Code Medium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17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">
            <a:extLst>
              <a:ext uri="{FF2B5EF4-FFF2-40B4-BE49-F238E27FC236}">
                <a16:creationId xmlns:a16="http://schemas.microsoft.com/office/drawing/2014/main" id="{5004A6BF-6B84-8F33-93FC-34B0C4303763}"/>
              </a:ext>
            </a:extLst>
          </p:cNvPr>
          <p:cNvSpPr/>
          <p:nvPr/>
        </p:nvSpPr>
        <p:spPr>
          <a:xfrm>
            <a:off x="979175" y="1638560"/>
            <a:ext cx="10233650" cy="19354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57" y="21600"/>
                </a:moveTo>
                <a:lnTo>
                  <a:pt x="2043" y="21600"/>
                </a:lnTo>
                <a:cubicBezTo>
                  <a:pt x="915" y="21600"/>
                  <a:pt x="0" y="16761"/>
                  <a:pt x="0" y="10800"/>
                </a:cubicBezTo>
                <a:lnTo>
                  <a:pt x="0" y="10800"/>
                </a:lnTo>
                <a:cubicBezTo>
                  <a:pt x="0" y="4839"/>
                  <a:pt x="915" y="0"/>
                  <a:pt x="2043" y="0"/>
                </a:cubicBezTo>
                <a:lnTo>
                  <a:pt x="19557" y="0"/>
                </a:lnTo>
                <a:cubicBezTo>
                  <a:pt x="20685" y="0"/>
                  <a:pt x="21600" y="4839"/>
                  <a:pt x="21600" y="10800"/>
                </a:cubicBezTo>
                <a:lnTo>
                  <a:pt x="21600" y="10800"/>
                </a:lnTo>
                <a:cubicBezTo>
                  <a:pt x="21600" y="16761"/>
                  <a:pt x="20685" y="21600"/>
                  <a:pt x="19557" y="21600"/>
                </a:cubicBezTo>
                <a:close/>
              </a:path>
            </a:pathLst>
          </a:custGeom>
          <a:solidFill>
            <a:srgbClr val="002033"/>
          </a:solidFill>
          <a:ln w="12700">
            <a:miter lim="400000"/>
          </a:ln>
          <a:effectLst>
            <a:outerShdw blurRad="152400" dist="101600" dir="2700000" algn="tl" rotWithShape="0">
              <a:srgbClr val="000000">
                <a:alpha val="30000"/>
              </a:srgbClr>
            </a:outerShdw>
          </a:effectLst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">
            <a:extLst>
              <a:ext uri="{FF2B5EF4-FFF2-40B4-BE49-F238E27FC236}">
                <a16:creationId xmlns:a16="http://schemas.microsoft.com/office/drawing/2014/main" id="{6E439CF4-BC2F-EBFF-73D0-E988787CBECA}"/>
              </a:ext>
            </a:extLst>
          </p:cNvPr>
          <p:cNvSpPr/>
          <p:nvPr/>
        </p:nvSpPr>
        <p:spPr>
          <a:xfrm>
            <a:off x="979175" y="1602208"/>
            <a:ext cx="10233650" cy="19354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57" y="21600"/>
                </a:moveTo>
                <a:lnTo>
                  <a:pt x="2043" y="21600"/>
                </a:lnTo>
                <a:cubicBezTo>
                  <a:pt x="915" y="21600"/>
                  <a:pt x="0" y="16761"/>
                  <a:pt x="0" y="10800"/>
                </a:cubicBezTo>
                <a:lnTo>
                  <a:pt x="0" y="10800"/>
                </a:lnTo>
                <a:cubicBezTo>
                  <a:pt x="0" y="4839"/>
                  <a:pt x="915" y="0"/>
                  <a:pt x="2043" y="0"/>
                </a:cubicBezTo>
                <a:lnTo>
                  <a:pt x="19557" y="0"/>
                </a:lnTo>
                <a:cubicBezTo>
                  <a:pt x="20685" y="0"/>
                  <a:pt x="21600" y="4839"/>
                  <a:pt x="21600" y="10800"/>
                </a:cubicBezTo>
                <a:lnTo>
                  <a:pt x="21600" y="10800"/>
                </a:lnTo>
                <a:cubicBezTo>
                  <a:pt x="21600" y="16761"/>
                  <a:pt x="20685" y="21600"/>
                  <a:pt x="19557" y="21600"/>
                </a:cubicBezTo>
                <a:close/>
              </a:path>
            </a:pathLst>
          </a:custGeom>
          <a:solidFill>
            <a:srgbClr val="002033"/>
          </a:solidFill>
          <a:ln w="12700">
            <a:miter lim="400000"/>
          </a:ln>
          <a:effectLst>
            <a:outerShdw blurRad="165100" dist="114300" dir="13500000" algn="tl" rotWithShape="0">
              <a:srgbClr val="FFFFFF">
                <a:alpha val="10000"/>
              </a:srgbClr>
            </a:outerShdw>
          </a:effectLst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Circle">
            <a:extLst>
              <a:ext uri="{FF2B5EF4-FFF2-40B4-BE49-F238E27FC236}">
                <a16:creationId xmlns:a16="http://schemas.microsoft.com/office/drawing/2014/main" id="{EB3C3DB6-EE1A-7585-DC22-04F19D6D5B08}"/>
              </a:ext>
            </a:extLst>
          </p:cNvPr>
          <p:cNvSpPr/>
          <p:nvPr/>
        </p:nvSpPr>
        <p:spPr>
          <a:xfrm>
            <a:off x="3225897" y="1767243"/>
            <a:ext cx="1605337" cy="1605337"/>
          </a:xfrm>
          <a:prstGeom prst="ellipse">
            <a:avLst/>
          </a:prstGeom>
          <a:gradFill>
            <a:gsLst>
              <a:gs pos="0">
                <a:srgbClr val="002033"/>
              </a:gs>
              <a:gs pos="100000">
                <a:srgbClr val="000000"/>
              </a:gs>
            </a:gsLst>
            <a:lin ang="2700000" scaled="0"/>
          </a:gradFill>
          <a:ln w="12700">
            <a:miter lim="400000"/>
          </a:ln>
          <a:effectLst>
            <a:innerShdw blurRad="254000" dist="190500" dir="13500000">
              <a:srgbClr val="173445"/>
            </a:innerShdw>
          </a:effectLst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Circle">
            <a:extLst>
              <a:ext uri="{FF2B5EF4-FFF2-40B4-BE49-F238E27FC236}">
                <a16:creationId xmlns:a16="http://schemas.microsoft.com/office/drawing/2014/main" id="{9075B01B-0F93-6061-931E-53291E6FE8B8}"/>
              </a:ext>
            </a:extLst>
          </p:cNvPr>
          <p:cNvSpPr/>
          <p:nvPr/>
        </p:nvSpPr>
        <p:spPr>
          <a:xfrm>
            <a:off x="1174217" y="1767243"/>
            <a:ext cx="1605337" cy="1605337"/>
          </a:xfrm>
          <a:prstGeom prst="ellipse">
            <a:avLst/>
          </a:prstGeom>
          <a:gradFill>
            <a:gsLst>
              <a:gs pos="0">
                <a:srgbClr val="002033"/>
              </a:gs>
              <a:gs pos="100000">
                <a:srgbClr val="000000"/>
              </a:gs>
            </a:gsLst>
            <a:lin ang="2700000" scaled="0"/>
          </a:gradFill>
          <a:ln w="12700">
            <a:miter lim="400000"/>
          </a:ln>
          <a:effectLst>
            <a:innerShdw blurRad="254000" dist="190500" dir="13500000">
              <a:srgbClr val="173445"/>
            </a:innerShdw>
          </a:effectLst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Circle">
            <a:extLst>
              <a:ext uri="{FF2B5EF4-FFF2-40B4-BE49-F238E27FC236}">
                <a16:creationId xmlns:a16="http://schemas.microsoft.com/office/drawing/2014/main" id="{9E25EF57-E125-49B0-93BE-6E31ADBB1E6E}"/>
              </a:ext>
            </a:extLst>
          </p:cNvPr>
          <p:cNvSpPr/>
          <p:nvPr/>
        </p:nvSpPr>
        <p:spPr>
          <a:xfrm>
            <a:off x="9380938" y="1767243"/>
            <a:ext cx="1605337" cy="1605337"/>
          </a:xfrm>
          <a:prstGeom prst="ellipse">
            <a:avLst/>
          </a:prstGeom>
          <a:gradFill>
            <a:gsLst>
              <a:gs pos="0">
                <a:srgbClr val="002033"/>
              </a:gs>
              <a:gs pos="100000">
                <a:srgbClr val="000000"/>
              </a:gs>
            </a:gsLst>
            <a:lin ang="2700000" scaled="0"/>
          </a:gradFill>
          <a:ln w="12700">
            <a:miter lim="400000"/>
          </a:ln>
          <a:effectLst>
            <a:innerShdw blurRad="254000" dist="190500" dir="13500000">
              <a:srgbClr val="173445"/>
            </a:innerShdw>
          </a:effectLst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Circle">
            <a:extLst>
              <a:ext uri="{FF2B5EF4-FFF2-40B4-BE49-F238E27FC236}">
                <a16:creationId xmlns:a16="http://schemas.microsoft.com/office/drawing/2014/main" id="{619278BC-44A9-1FBD-7706-4DD85865A1C6}"/>
              </a:ext>
            </a:extLst>
          </p:cNvPr>
          <p:cNvSpPr/>
          <p:nvPr/>
        </p:nvSpPr>
        <p:spPr>
          <a:xfrm>
            <a:off x="7329257" y="1767243"/>
            <a:ext cx="1605337" cy="1605337"/>
          </a:xfrm>
          <a:prstGeom prst="ellipse">
            <a:avLst/>
          </a:prstGeom>
          <a:gradFill>
            <a:gsLst>
              <a:gs pos="0">
                <a:srgbClr val="002033"/>
              </a:gs>
              <a:gs pos="100000">
                <a:srgbClr val="000000"/>
              </a:gs>
            </a:gsLst>
            <a:lin ang="2700000" scaled="0"/>
          </a:gradFill>
          <a:ln w="12700">
            <a:miter lim="400000"/>
          </a:ln>
          <a:effectLst>
            <a:innerShdw blurRad="254000" dist="190500" dir="13500000">
              <a:srgbClr val="173445"/>
            </a:innerShdw>
          </a:effectLst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Circle">
            <a:extLst>
              <a:ext uri="{FF2B5EF4-FFF2-40B4-BE49-F238E27FC236}">
                <a16:creationId xmlns:a16="http://schemas.microsoft.com/office/drawing/2014/main" id="{EA92C195-637E-130A-3875-9CF240D4880F}"/>
              </a:ext>
            </a:extLst>
          </p:cNvPr>
          <p:cNvSpPr/>
          <p:nvPr/>
        </p:nvSpPr>
        <p:spPr>
          <a:xfrm>
            <a:off x="5277577" y="1767243"/>
            <a:ext cx="1605337" cy="1605337"/>
          </a:xfrm>
          <a:prstGeom prst="ellipse">
            <a:avLst/>
          </a:prstGeom>
          <a:gradFill>
            <a:gsLst>
              <a:gs pos="0">
                <a:srgbClr val="002033"/>
              </a:gs>
              <a:gs pos="100000">
                <a:srgbClr val="000000"/>
              </a:gs>
            </a:gsLst>
            <a:lin ang="2700000" scaled="0"/>
          </a:gradFill>
          <a:ln w="12700">
            <a:miter lim="400000"/>
          </a:ln>
          <a:effectLst>
            <a:innerShdw blurRad="254000" dist="190500" dir="13500000">
              <a:srgbClr val="173445"/>
            </a:innerShdw>
          </a:effectLst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F79D790-4DDA-773C-C31F-18B373823196}"/>
              </a:ext>
            </a:extLst>
          </p:cNvPr>
          <p:cNvGrpSpPr/>
          <p:nvPr/>
        </p:nvGrpSpPr>
        <p:grpSpPr>
          <a:xfrm>
            <a:off x="1096520" y="3610317"/>
            <a:ext cx="1789436" cy="1645475"/>
            <a:chOff x="319755" y="4073748"/>
            <a:chExt cx="2088994" cy="1645475"/>
          </a:xfrm>
        </p:grpSpPr>
        <p:sp>
          <p:nvSpPr>
            <p:cNvPr id="67" name="TextBox 10">
              <a:extLst>
                <a:ext uri="{FF2B5EF4-FFF2-40B4-BE49-F238E27FC236}">
                  <a16:creationId xmlns:a16="http://schemas.microsoft.com/office/drawing/2014/main" id="{54217D51-FED7-CC0C-5EFF-7995FB0A32EE}"/>
                </a:ext>
              </a:extLst>
            </p:cNvPr>
            <p:cNvSpPr txBox="1"/>
            <p:nvPr/>
          </p:nvSpPr>
          <p:spPr>
            <a:xfrm>
              <a:off x="319755" y="4073748"/>
              <a:ext cx="2088993" cy="707886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noProof="1">
                  <a:solidFill>
                    <a:srgbClr val="FFFFFF"/>
                  </a:solidFill>
                  <a:latin typeface="Calibri" panose="020F0502020204030204"/>
                </a:rPr>
                <a:t>Continuous Analysis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3395AF9-8F7B-4FBE-25FD-76EECF906068}"/>
                </a:ext>
              </a:extLst>
            </p:cNvPr>
            <p:cNvSpPr/>
            <p:nvPr/>
          </p:nvSpPr>
          <p:spPr>
            <a:xfrm>
              <a:off x="319756" y="4765116"/>
              <a:ext cx="2088993" cy="954107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1200"/>
                </a:spcBef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Analyzes live metrics, logs, and traces from CloudWatch and Grafana.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05ED045-7692-FE79-C662-75C0517044E3}"/>
              </a:ext>
            </a:extLst>
          </p:cNvPr>
          <p:cNvGrpSpPr/>
          <p:nvPr/>
        </p:nvGrpSpPr>
        <p:grpSpPr>
          <a:xfrm>
            <a:off x="3109131" y="3610317"/>
            <a:ext cx="1789436" cy="1645475"/>
            <a:chOff x="319755" y="4073748"/>
            <a:chExt cx="2088994" cy="1645475"/>
          </a:xfrm>
        </p:grpSpPr>
        <p:sp>
          <p:nvSpPr>
            <p:cNvPr id="70" name="TextBox 13">
              <a:extLst>
                <a:ext uri="{FF2B5EF4-FFF2-40B4-BE49-F238E27FC236}">
                  <a16:creationId xmlns:a16="http://schemas.microsoft.com/office/drawing/2014/main" id="{16447DEB-4434-E1AE-DA8A-1129D3A06FCE}"/>
                </a:ext>
              </a:extLst>
            </p:cNvPr>
            <p:cNvSpPr txBox="1"/>
            <p:nvPr/>
          </p:nvSpPr>
          <p:spPr>
            <a:xfrm>
              <a:off x="319755" y="4073748"/>
              <a:ext cx="2088993" cy="707886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noProof="1">
                  <a:latin typeface="Calibri" panose="020F0502020204030204"/>
                </a:rPr>
                <a:t>Anomaly Detection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64EA2C1-2471-FA08-8071-08DF9365C50E}"/>
                </a:ext>
              </a:extLst>
            </p:cNvPr>
            <p:cNvSpPr/>
            <p:nvPr/>
          </p:nvSpPr>
          <p:spPr>
            <a:xfrm>
              <a:off x="319756" y="4765116"/>
              <a:ext cx="2088993" cy="954107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1200"/>
                </a:spcBef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Identifies anomalies or degradation patterns in CPU, latency, and memory leaks.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A393EDC-EBBE-5938-40DD-E38F1420D2C3}"/>
              </a:ext>
            </a:extLst>
          </p:cNvPr>
          <p:cNvGrpSpPr/>
          <p:nvPr/>
        </p:nvGrpSpPr>
        <p:grpSpPr>
          <a:xfrm>
            <a:off x="5220846" y="3610317"/>
            <a:ext cx="1789436" cy="1645475"/>
            <a:chOff x="319755" y="4073748"/>
            <a:chExt cx="2088994" cy="1645475"/>
          </a:xfrm>
        </p:grpSpPr>
        <p:sp>
          <p:nvSpPr>
            <p:cNvPr id="73" name="TextBox 16">
              <a:extLst>
                <a:ext uri="{FF2B5EF4-FFF2-40B4-BE49-F238E27FC236}">
                  <a16:creationId xmlns:a16="http://schemas.microsoft.com/office/drawing/2014/main" id="{559BC2A9-201A-4BD7-2F05-F6CF9D6E2BF5}"/>
                </a:ext>
              </a:extLst>
            </p:cNvPr>
            <p:cNvSpPr txBox="1"/>
            <p:nvPr/>
          </p:nvSpPr>
          <p:spPr>
            <a:xfrm>
              <a:off x="319755" y="4073748"/>
              <a:ext cx="2088993" cy="707886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noProof="1">
                  <a:solidFill>
                    <a:srgbClr val="FFFFFF"/>
                  </a:solidFill>
                  <a:latin typeface="Calibri" panose="020F0502020204030204"/>
                </a:rPr>
                <a:t>Corrective Actions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E7A7F5F-53F7-A8B8-F724-D720F1C34454}"/>
                </a:ext>
              </a:extLst>
            </p:cNvPr>
            <p:cNvSpPr/>
            <p:nvPr/>
          </p:nvSpPr>
          <p:spPr>
            <a:xfrm>
              <a:off x="319756" y="4765116"/>
              <a:ext cx="2088993" cy="954107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1200"/>
                </a:spcBef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Suggests corrective actions such as auto-scaling, pod restarts, or configuration reverts.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313BA92-A680-2B7F-3DEF-945F7F435217}"/>
              </a:ext>
            </a:extLst>
          </p:cNvPr>
          <p:cNvGrpSpPr/>
          <p:nvPr/>
        </p:nvGrpSpPr>
        <p:grpSpPr>
          <a:xfrm>
            <a:off x="7233457" y="3610317"/>
            <a:ext cx="1789436" cy="1860919"/>
            <a:chOff x="319755" y="4073748"/>
            <a:chExt cx="2088994" cy="1860919"/>
          </a:xfrm>
        </p:grpSpPr>
        <p:sp>
          <p:nvSpPr>
            <p:cNvPr id="76" name="TextBox 19">
              <a:extLst>
                <a:ext uri="{FF2B5EF4-FFF2-40B4-BE49-F238E27FC236}">
                  <a16:creationId xmlns:a16="http://schemas.microsoft.com/office/drawing/2014/main" id="{7F5522EA-5744-71D0-D32C-ED1EF7F3EA19}"/>
                </a:ext>
              </a:extLst>
            </p:cNvPr>
            <p:cNvSpPr txBox="1"/>
            <p:nvPr/>
          </p:nvSpPr>
          <p:spPr>
            <a:xfrm>
              <a:off x="319755" y="4073748"/>
              <a:ext cx="2088993" cy="707886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noProof="1">
                  <a:solidFill>
                    <a:srgbClr val="FFFFFF"/>
                  </a:solidFill>
                  <a:latin typeface="Calibri" panose="020F0502020204030204"/>
                </a:rPr>
                <a:t>Self-Healing Workflows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F4FE920-5292-E529-5743-70559FBECD25}"/>
                </a:ext>
              </a:extLst>
            </p:cNvPr>
            <p:cNvSpPr/>
            <p:nvPr/>
          </p:nvSpPr>
          <p:spPr>
            <a:xfrm>
              <a:off x="319756" y="4765116"/>
              <a:ext cx="2088993" cy="1169551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1200"/>
                </a:spcBef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Triggers self-healing workflows using pre-trained models for automated issue resolution.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9746792-1B35-4669-60DF-15F7309B2E20}"/>
              </a:ext>
            </a:extLst>
          </p:cNvPr>
          <p:cNvGrpSpPr/>
          <p:nvPr/>
        </p:nvGrpSpPr>
        <p:grpSpPr>
          <a:xfrm>
            <a:off x="9246067" y="3660765"/>
            <a:ext cx="1789436" cy="1398875"/>
            <a:chOff x="319755" y="4320348"/>
            <a:chExt cx="2088994" cy="1398875"/>
          </a:xfrm>
        </p:grpSpPr>
        <p:sp>
          <p:nvSpPr>
            <p:cNvPr id="79" name="TextBox 22">
              <a:extLst>
                <a:ext uri="{FF2B5EF4-FFF2-40B4-BE49-F238E27FC236}">
                  <a16:creationId xmlns:a16="http://schemas.microsoft.com/office/drawing/2014/main" id="{E2482482-E7AA-6F4F-1826-337C73AED2D7}"/>
                </a:ext>
              </a:extLst>
            </p:cNvPr>
            <p:cNvSpPr txBox="1"/>
            <p:nvPr/>
          </p:nvSpPr>
          <p:spPr>
            <a:xfrm>
              <a:off x="319755" y="4320348"/>
              <a:ext cx="2088993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noProof="1">
                  <a:solidFill>
                    <a:srgbClr val="FFFFFF"/>
                  </a:solidFill>
                  <a:latin typeface="Calibri" panose="020F0502020204030204"/>
                </a:rPr>
                <a:t>CI/CD Feedback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1A34F6F-0A24-4105-3F55-C3914E10B339}"/>
                </a:ext>
              </a:extLst>
            </p:cNvPr>
            <p:cNvSpPr/>
            <p:nvPr/>
          </p:nvSpPr>
          <p:spPr>
            <a:xfrm>
              <a:off x="319756" y="4765116"/>
              <a:ext cx="2088993" cy="954107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1200"/>
                </a:spcBef>
              </a:pPr>
              <a:r>
                <a:rPr lang="en-US" sz="1400" noProof="1">
                  <a:solidFill>
                    <a:srgbClr val="FFFFFF">
                      <a:lumMod val="75000"/>
                    </a:srgbClr>
                  </a:solidFill>
                  <a:latin typeface="Calibri" panose="020F0502020204030204"/>
                </a:rPr>
                <a:t>Feeds observability insights back into CI/CD pipelines for continuous improvement.</a:t>
              </a:r>
            </a:p>
          </p:txBody>
        </p:sp>
      </p:grpSp>
      <p:pic>
        <p:nvPicPr>
          <p:cNvPr id="81" name="Graphic 24" descr="Head with gears">
            <a:extLst>
              <a:ext uri="{FF2B5EF4-FFF2-40B4-BE49-F238E27FC236}">
                <a16:creationId xmlns:a16="http://schemas.microsoft.com/office/drawing/2014/main" id="{28F82D3B-3C16-95FD-0D67-D2CF16CAA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2402" y="2055428"/>
            <a:ext cx="1028966" cy="1028966"/>
          </a:xfrm>
          <a:prstGeom prst="rect">
            <a:avLst/>
          </a:prstGeom>
        </p:spPr>
      </p:pic>
      <p:pic>
        <p:nvPicPr>
          <p:cNvPr id="82" name="Graphic 25" descr="Eye">
            <a:extLst>
              <a:ext uri="{FF2B5EF4-FFF2-40B4-BE49-F238E27FC236}">
                <a16:creationId xmlns:a16="http://schemas.microsoft.com/office/drawing/2014/main" id="{93E94470-0A5E-92F2-BDE0-7FE7BC931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9123" y="2055428"/>
            <a:ext cx="1028966" cy="1028966"/>
          </a:xfrm>
          <a:prstGeom prst="rect">
            <a:avLst/>
          </a:prstGeom>
        </p:spPr>
      </p:pic>
      <p:pic>
        <p:nvPicPr>
          <p:cNvPr id="83" name="Graphic 26" descr="Stopwatch 33%">
            <a:extLst>
              <a:ext uri="{FF2B5EF4-FFF2-40B4-BE49-F238E27FC236}">
                <a16:creationId xmlns:a16="http://schemas.microsoft.com/office/drawing/2014/main" id="{6C480493-5F1A-D6AF-D706-ECE89D8786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8261" y="2055428"/>
            <a:ext cx="1028966" cy="1028966"/>
          </a:xfrm>
          <a:prstGeom prst="rect">
            <a:avLst/>
          </a:prstGeom>
        </p:spPr>
      </p:pic>
      <p:pic>
        <p:nvPicPr>
          <p:cNvPr id="84" name="Graphic 28" descr="Lights On">
            <a:extLst>
              <a:ext uri="{FF2B5EF4-FFF2-40B4-BE49-F238E27FC236}">
                <a16:creationId xmlns:a16="http://schemas.microsoft.com/office/drawing/2014/main" id="{A9D2FBA7-21A3-8ECE-A91D-18EA885440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3692" y="2055428"/>
            <a:ext cx="1028966" cy="1028966"/>
          </a:xfrm>
          <a:prstGeom prst="rect">
            <a:avLst/>
          </a:prstGeom>
        </p:spPr>
      </p:pic>
      <p:pic>
        <p:nvPicPr>
          <p:cNvPr id="85" name="Graphic 27" descr="Bullseye">
            <a:extLst>
              <a:ext uri="{FF2B5EF4-FFF2-40B4-BE49-F238E27FC236}">
                <a16:creationId xmlns:a16="http://schemas.microsoft.com/office/drawing/2014/main" id="{87E9CC1B-0C97-F233-7E3D-96C9023C01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10956" y="2048693"/>
            <a:ext cx="1028966" cy="10289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6" name="Title 1">
            <a:extLst>
              <a:ext uri="{FF2B5EF4-FFF2-40B4-BE49-F238E27FC236}">
                <a16:creationId xmlns:a16="http://schemas.microsoft.com/office/drawing/2014/main" id="{AF27C471-1F99-F33B-7565-5D8F6DDC0205}"/>
              </a:ext>
            </a:extLst>
          </p:cNvPr>
          <p:cNvSpPr txBox="1">
            <a:spLocks/>
          </p:cNvSpPr>
          <p:nvPr/>
        </p:nvSpPr>
        <p:spPr>
          <a:xfrm>
            <a:off x="412253" y="-109821"/>
            <a:ext cx="4734601" cy="8315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cap="al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GenAI in Monitoring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21DAF-6CBF-8E09-D960-1F501876EB45}"/>
              </a:ext>
            </a:extLst>
          </p:cNvPr>
          <p:cNvSpPr txBox="1"/>
          <p:nvPr/>
        </p:nvSpPr>
        <p:spPr>
          <a:xfrm>
            <a:off x="3834058" y="92896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 from Logs, Metrics and Traces</a:t>
            </a:r>
            <a:endParaRPr lang="en-US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37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5F9C-4D8C-58A0-A420-650775A75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16FE72-F6E4-CC71-461B-A7935A439981}"/>
              </a:ext>
            </a:extLst>
          </p:cNvPr>
          <p:cNvSpPr txBox="1">
            <a:spLocks/>
          </p:cNvSpPr>
          <p:nvPr/>
        </p:nvSpPr>
        <p:spPr>
          <a:xfrm>
            <a:off x="422418" y="-88900"/>
            <a:ext cx="4734601" cy="8315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cap="al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 GenAI Brain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2D389A-DD5C-2D3C-A04B-FD496E76A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9" b="8208"/>
          <a:stretch>
            <a:fillRect/>
          </a:stretch>
        </p:blipFill>
        <p:spPr>
          <a:xfrm>
            <a:off x="5927912" y="1720014"/>
            <a:ext cx="5989320" cy="34676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612E07-B5BE-2F19-06C6-3AC92024BA1A}"/>
              </a:ext>
            </a:extLst>
          </p:cNvPr>
          <p:cNvSpPr txBox="1"/>
          <p:nvPr/>
        </p:nvSpPr>
        <p:spPr>
          <a:xfrm>
            <a:off x="422418" y="1298702"/>
            <a:ext cx="5507771" cy="4404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Learns from all past pipelines: build failures, flaky tests, slow deployments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Integrates into GitHub Actions / Jenkins / Azure DevOps as plugins or hooks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Offers contextual suggestions inside developer IDEs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Feeds on observability signals to improve pipeline intelligence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Connects with artifact stores, infra-as-code, test suites, and monitoring dashboards</a:t>
            </a:r>
          </a:p>
        </p:txBody>
      </p:sp>
    </p:spTree>
    <p:extLst>
      <p:ext uri="{BB962C8B-B14F-4D97-AF65-F5344CB8AC3E}">
        <p14:creationId xmlns:p14="http://schemas.microsoft.com/office/powerpoint/2010/main" val="164355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04116-2EEE-A11A-115F-B8083F156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E29C3D-F582-E17B-ECAD-83860F3F2090}"/>
              </a:ext>
            </a:extLst>
          </p:cNvPr>
          <p:cNvSpPr txBox="1">
            <a:spLocks/>
          </p:cNvSpPr>
          <p:nvPr/>
        </p:nvSpPr>
        <p:spPr>
          <a:xfrm>
            <a:off x="409718" y="-128865"/>
            <a:ext cx="6377670" cy="9102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cap="al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 &amp; Key Takeaways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28E31-3E37-397C-893E-47E8CE2E5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6" b="10824"/>
          <a:stretch>
            <a:fillRect/>
          </a:stretch>
        </p:blipFill>
        <p:spPr>
          <a:xfrm>
            <a:off x="1259758" y="1358900"/>
            <a:ext cx="9379974" cy="471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2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Verdana Pro Cond SemiBold"/>
        <a:ea typeface=""/>
        <a:cs typeface=""/>
      </a:majorFont>
      <a:minorFont>
        <a:latin typeface="Verdan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481</Words>
  <Application>Microsoft Office PowerPoint</Application>
  <PresentationFormat>Widescreen</PresentationFormat>
  <Paragraphs>111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Calibri Light</vt:lpstr>
      <vt:lpstr>Fira code</vt:lpstr>
      <vt:lpstr>Fira Code Medium</vt:lpstr>
      <vt:lpstr>Helvetica</vt:lpstr>
      <vt:lpstr>Trebuchet MS</vt:lpstr>
      <vt:lpstr>Verdana Pro</vt:lpstr>
      <vt:lpstr>Verdana Pro Cond SemiBold</vt:lpstr>
      <vt:lpstr>TornVTI</vt:lpstr>
      <vt:lpstr>Template PresentationGO Dark</vt:lpstr>
      <vt:lpstr>From Bottlenecks to Breakthroughs:  Transforming DevOps Testing with GenAI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Harshada Surwase</dc:creator>
  <cp:lastModifiedBy>Lakshmanan, Ajithkumar (Cognizant)</cp:lastModifiedBy>
  <cp:revision>4</cp:revision>
  <dcterms:created xsi:type="dcterms:W3CDTF">2025-08-19T04:58:14Z</dcterms:created>
  <dcterms:modified xsi:type="dcterms:W3CDTF">2025-11-22T12:22:41Z</dcterms:modified>
</cp:coreProperties>
</file>